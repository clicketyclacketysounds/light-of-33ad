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alphaModFix amt="78000"/>
          </a:blip>
          <a:stretch>
            <a:fillRect/>
          </a:stretch>
        </p:blipFill>
        <p:spPr>
          <a:xfrm>
            <a:off x="4267048" y="365760"/>
            <a:ext cx="3657600" cy="3657600"/>
          </a:xfrm>
          <a:prstGeom prst="rect">
            <a:avLst/>
          </a:prstGeom>
        </p:spPr>
      </p:pic>
      <p:sp>
        <p:nvSpPr>
          <p:cNvPr id="3" name="Text 0"/>
          <p:cNvSpPr/>
          <p:nvPr/>
        </p:nvSpPr>
        <p:spPr>
          <a:xfrm>
            <a:off x="0" y="1234440"/>
            <a:ext cx="12191695" cy="365760"/>
          </a:xfrm>
          <a:prstGeom prst="rect">
            <a:avLst/>
          </a:prstGeom>
          <a:noFill/>
          <a:ln/>
        </p:spPr>
        <p:txBody>
          <a:bodyPr wrap="square" lIns="0" tIns="0" rIns="0" bIns="0" rtlCol="0" anchor="ctr"/>
          <a:lstStyle/>
          <a:p>
            <a:pPr algn="ctr" indent="0" marL="0">
              <a:buNone/>
            </a:pPr>
            <a:r>
              <a:rPr lang="en-US" sz="1300" b="1" spc="400" kern="0" dirty="0">
                <a:solidFill>
                  <a:srgbClr val="FFD27D"/>
                </a:solidFill>
                <a:latin typeface="Consolas" pitchFamily="34" charset="0"/>
                <a:ea typeface="Consolas" pitchFamily="34" charset="-122"/>
                <a:cs typeface="Consolas" pitchFamily="34" charset="-120"/>
              </a:rPr>
              <a:t>A PHYSICS THOUGHT EXPERIMENT, AUDITED</a:t>
            </a:r>
            <a:endParaRPr lang="en-US" sz="1300" dirty="0"/>
          </a:p>
        </p:txBody>
      </p:sp>
      <p:sp>
        <p:nvSpPr>
          <p:cNvPr id="4" name="Text 1"/>
          <p:cNvSpPr/>
          <p:nvPr/>
        </p:nvSpPr>
        <p:spPr>
          <a:xfrm>
            <a:off x="0" y="1828800"/>
            <a:ext cx="12191695" cy="1188720"/>
          </a:xfrm>
          <a:prstGeom prst="rect">
            <a:avLst/>
          </a:prstGeom>
          <a:noFill/>
          <a:ln/>
        </p:spPr>
        <p:txBody>
          <a:bodyPr wrap="square" lIns="0" tIns="0" rIns="0" bIns="0" rtlCol="0" anchor="ctr"/>
          <a:lstStyle/>
          <a:p>
            <a:pPr algn="ctr" indent="0" marL="0">
              <a:buNone/>
            </a:pPr>
            <a:r>
              <a:rPr lang="en-US" sz="6200" b="1" dirty="0">
                <a:solidFill>
                  <a:srgbClr val="DFF1FF"/>
                </a:solidFill>
                <a:latin typeface="Georgia" pitchFamily="34" charset="0"/>
                <a:ea typeface="Georgia" pitchFamily="34" charset="-122"/>
                <a:cs typeface="Georgia" pitchFamily="34" charset="-120"/>
              </a:rPr>
              <a:t>The Light of 33 AD</a:t>
            </a:r>
            <a:endParaRPr lang="en-US" sz="6200" dirty="0"/>
          </a:p>
        </p:txBody>
      </p:sp>
      <p:sp>
        <p:nvSpPr>
          <p:cNvPr id="5" name="Text 2"/>
          <p:cNvSpPr/>
          <p:nvPr/>
        </p:nvSpPr>
        <p:spPr>
          <a:xfrm>
            <a:off x="0" y="3063240"/>
            <a:ext cx="12191695" cy="548640"/>
          </a:xfrm>
          <a:prstGeom prst="rect">
            <a:avLst/>
          </a:prstGeom>
          <a:noFill/>
          <a:ln/>
        </p:spPr>
        <p:txBody>
          <a:bodyPr wrap="square" lIns="0" tIns="0" rIns="0" bIns="0" rtlCol="0" anchor="ctr"/>
          <a:lstStyle/>
          <a:p>
            <a:pPr algn="ctr" indent="0" marL="0">
              <a:buNone/>
            </a:pPr>
            <a:r>
              <a:rPr lang="en-US" sz="2200" i="1" dirty="0">
                <a:solidFill>
                  <a:srgbClr val="C9D6E8"/>
                </a:solidFill>
                <a:latin typeface="Georgia" pitchFamily="34" charset="0"/>
                <a:ea typeface="Georgia" pitchFamily="34" charset="-122"/>
                <a:cs typeface="Georgia" pitchFamily="34" charset="-120"/>
              </a:rPr>
              <a:t>Where did it go, and could anyone still see us?</a:t>
            </a:r>
            <a:endParaRPr lang="en-US" sz="2200" dirty="0"/>
          </a:p>
        </p:txBody>
      </p:sp>
      <p:sp>
        <p:nvSpPr>
          <p:cNvPr id="6" name="Text 3"/>
          <p:cNvSpPr/>
          <p:nvPr/>
        </p:nvSpPr>
        <p:spPr>
          <a:xfrm>
            <a:off x="2194560" y="4160520"/>
            <a:ext cx="7799832" cy="822960"/>
          </a:xfrm>
          <a:prstGeom prst="rect">
            <a:avLst/>
          </a:prstGeom>
          <a:noFill/>
          <a:ln/>
        </p:spPr>
        <p:txBody>
          <a:bodyPr wrap="square" lIns="0" tIns="0" rIns="0" bIns="0" rtlCol="0" anchor="ctr"/>
          <a:lstStyle/>
          <a:p>
            <a:pPr algn="ctr" indent="0" marL="0">
              <a:lnSpc>
                <a:spcPts val="2100"/>
              </a:lnSpc>
              <a:buNone/>
            </a:pPr>
            <a:r>
              <a:rPr lang="en-US" sz="1450" dirty="0">
                <a:solidFill>
                  <a:srgbClr val="7E8CA3"/>
                </a:solidFill>
                <a:latin typeface="Calibri" pitchFamily="34" charset="0"/>
                <a:ea typeface="Calibri" pitchFamily="34" charset="-122"/>
                <a:cs typeface="Calibri" pitchFamily="34" charset="-120"/>
              </a:rPr>
              <a:t>Sunlight bounced off Earth almost 2,000 years ago and never stopped moving. This is where that light is now, and what it still remembers about us, in plain language.</a:t>
            </a:r>
            <a:endParaRPr lang="en-US" sz="1450" dirty="0"/>
          </a:p>
        </p:txBody>
      </p:sp>
      <p:sp>
        <p:nvSpPr>
          <p:cNvPr id="7" name="Text 4"/>
          <p:cNvSpPr/>
          <p:nvPr/>
        </p:nvSpPr>
        <p:spPr>
          <a:xfrm>
            <a:off x="2026768" y="5029200"/>
            <a:ext cx="2468880" cy="777240"/>
          </a:xfrm>
          <a:prstGeom prst="rect">
            <a:avLst/>
          </a:prstGeom>
          <a:noFill/>
          <a:ln/>
        </p:spPr>
        <p:txBody>
          <a:bodyPr wrap="square" lIns="0" tIns="0" rIns="0" bIns="0" rtlCol="0" anchor="t"/>
          <a:lstStyle/>
          <a:p>
            <a:pPr algn="ctr" indent="0" marL="0">
              <a:lnSpc>
                <a:spcPts val="2200"/>
              </a:lnSpc>
              <a:buNone/>
            </a:pPr>
            <a:r>
              <a:rPr lang="en-US" sz="2000" b="1" dirty="0">
                <a:solidFill>
                  <a:srgbClr val="FFD27D"/>
                </a:solidFill>
                <a:latin typeface="Georgia" pitchFamily="34" charset="0"/>
                <a:ea typeface="Georgia" pitchFamily="34" charset="-122"/>
                <a:cs typeface="Georgia" pitchFamily="34" charset="-120"/>
              </a:rPr>
              <a:t>1,993</a:t>
            </a:r>
            <a:endParaRPr lang="en-US" sz="2000" dirty="0"/>
          </a:p>
          <a:p>
            <a:pPr algn="ctr" indent="0" marL="0">
              <a:lnSpc>
                <a:spcPts val="2200"/>
              </a:lnSpc>
              <a:buNone/>
            </a:pPr>
            <a:r>
              <a:rPr lang="en-US" sz="950" spc="200" kern="0" dirty="0">
                <a:solidFill>
                  <a:srgbClr val="7E8CA3"/>
                </a:solidFill>
                <a:latin typeface="Consolas" pitchFamily="34" charset="0"/>
                <a:ea typeface="Consolas" pitchFamily="34" charset="-122"/>
                <a:cs typeface="Consolas" pitchFamily="34" charset="-120"/>
              </a:rPr>
              <a:t>LIGHT-YEARS OUT</a:t>
            </a:r>
            <a:endParaRPr lang="en-US" sz="2000" dirty="0"/>
          </a:p>
        </p:txBody>
      </p:sp>
      <p:sp>
        <p:nvSpPr>
          <p:cNvPr id="8" name="Text 5"/>
          <p:cNvSpPr/>
          <p:nvPr/>
        </p:nvSpPr>
        <p:spPr>
          <a:xfrm>
            <a:off x="4861408" y="5029200"/>
            <a:ext cx="2468880" cy="777240"/>
          </a:xfrm>
          <a:prstGeom prst="rect">
            <a:avLst/>
          </a:prstGeom>
          <a:noFill/>
          <a:ln/>
        </p:spPr>
        <p:txBody>
          <a:bodyPr wrap="square" lIns="0" tIns="0" rIns="0" bIns="0" rtlCol="0" anchor="t"/>
          <a:lstStyle/>
          <a:p>
            <a:pPr algn="ctr" indent="0" marL="0">
              <a:lnSpc>
                <a:spcPts val="2200"/>
              </a:lnSpc>
              <a:buNone/>
            </a:pPr>
            <a:r>
              <a:rPr lang="en-US" sz="2000" b="1" dirty="0">
                <a:solidFill>
                  <a:srgbClr val="FFD27D"/>
                </a:solidFill>
                <a:latin typeface="Georgia" pitchFamily="34" charset="0"/>
                <a:ea typeface="Georgia" pitchFamily="34" charset="-122"/>
                <a:cs typeface="Georgia" pitchFamily="34" charset="-120"/>
              </a:rPr>
              <a:t>2,000 yrs</a:t>
            </a:r>
            <a:endParaRPr lang="en-US" sz="2000" dirty="0"/>
          </a:p>
          <a:p>
            <a:pPr algn="ctr" indent="0" marL="0">
              <a:lnSpc>
                <a:spcPts val="2200"/>
              </a:lnSpc>
              <a:buNone/>
            </a:pPr>
            <a:r>
              <a:rPr lang="en-US" sz="950" spc="200" kern="0" dirty="0">
                <a:solidFill>
                  <a:srgbClr val="7E8CA3"/>
                </a:solidFill>
                <a:latin typeface="Consolas" pitchFamily="34" charset="0"/>
                <a:ea typeface="Consolas" pitchFamily="34" charset="-122"/>
                <a:cs typeface="Consolas" pitchFamily="34" charset="-120"/>
              </a:rPr>
              <a:t>STILL TRAVELING</a:t>
            </a:r>
            <a:endParaRPr lang="en-US" sz="2000" dirty="0"/>
          </a:p>
        </p:txBody>
      </p:sp>
      <p:sp>
        <p:nvSpPr>
          <p:cNvPr id="9" name="Text 6"/>
          <p:cNvSpPr/>
          <p:nvPr/>
        </p:nvSpPr>
        <p:spPr>
          <a:xfrm>
            <a:off x="7696048" y="5029200"/>
            <a:ext cx="2468880" cy="777240"/>
          </a:xfrm>
          <a:prstGeom prst="rect">
            <a:avLst/>
          </a:prstGeom>
          <a:noFill/>
          <a:ln/>
        </p:spPr>
        <p:txBody>
          <a:bodyPr wrap="square" lIns="0" tIns="0" rIns="0" bIns="0" rtlCol="0" anchor="t"/>
          <a:lstStyle/>
          <a:p>
            <a:pPr algn="ctr" indent="0" marL="0">
              <a:lnSpc>
                <a:spcPts val="2200"/>
              </a:lnSpc>
              <a:buNone/>
            </a:pPr>
            <a:r>
              <a:rPr lang="en-US" sz="2000" b="1" dirty="0">
                <a:solidFill>
                  <a:srgbClr val="FFD27D"/>
                </a:solidFill>
                <a:latin typeface="Georgia" pitchFamily="34" charset="0"/>
                <a:ea typeface="Georgia" pitchFamily="34" charset="-122"/>
                <a:cs typeface="Georgia" pitchFamily="34" charset="-120"/>
              </a:rPr>
              <a:t>Forever</a:t>
            </a:r>
            <a:endParaRPr lang="en-US" sz="2000" dirty="0"/>
          </a:p>
          <a:p>
            <a:pPr algn="ctr" indent="0" marL="0">
              <a:lnSpc>
                <a:spcPts val="2200"/>
              </a:lnSpc>
              <a:buNone/>
            </a:pPr>
            <a:r>
              <a:rPr lang="en-US" sz="950" spc="200" kern="0" dirty="0">
                <a:solidFill>
                  <a:srgbClr val="7E8CA3"/>
                </a:solidFill>
                <a:latin typeface="Consolas" pitchFamily="34" charset="0"/>
                <a:ea typeface="Consolas" pitchFamily="34" charset="-122"/>
                <a:cs typeface="Consolas" pitchFamily="34" charset="-120"/>
              </a:rPr>
              <a:t>NEVER DESTROYED</a:t>
            </a:r>
            <a:endParaRPr lang="en-US" sz="2000" dirty="0"/>
          </a:p>
        </p:txBody>
      </p:sp>
      <p:sp>
        <p:nvSpPr>
          <p:cNvPr id="10" name="Text 7"/>
          <p:cNvSpPr/>
          <p:nvPr/>
        </p:nvSpPr>
        <p:spPr>
          <a:xfrm>
            <a:off x="1371600" y="5806440"/>
            <a:ext cx="9445752" cy="548640"/>
          </a:xfrm>
          <a:prstGeom prst="rect">
            <a:avLst/>
          </a:prstGeom>
          <a:noFill/>
          <a:ln/>
        </p:spPr>
        <p:txBody>
          <a:bodyPr wrap="square" lIns="0" tIns="0" rIns="0" bIns="0" rtlCol="0" anchor="ctr"/>
          <a:lstStyle/>
          <a:p>
            <a:pPr algn="ctr" indent="0" marL="0">
              <a:lnSpc>
                <a:spcPts val="1900"/>
              </a:lnSpc>
              <a:buNone/>
            </a:pPr>
            <a:r>
              <a:rPr lang="en-US" sz="1250" i="1" dirty="0">
                <a:solidFill>
                  <a:srgbClr val="7E8CA3"/>
                </a:solidFill>
                <a:latin typeface="Georgia" pitchFamily="34" charset="0"/>
                <a:ea typeface="Georgia" pitchFamily="34" charset="-122"/>
                <a:cs typeface="Georgia" pitchFamily="34" charset="-120"/>
              </a:rPr>
              <a:t>Thought experiment conceived by Paul J. Clark on July 7, 2026.</a:t>
            </a:r>
            <a:endParaRPr lang="en-US" sz="1250" dirty="0"/>
          </a:p>
          <a:p>
            <a:pPr algn="ctr" indent="0" marL="0">
              <a:lnSpc>
                <a:spcPts val="1900"/>
              </a:lnSpc>
              <a:buNone/>
            </a:pPr>
            <a:r>
              <a:rPr lang="en-US" sz="1250" i="1" dirty="0">
                <a:solidFill>
                  <a:srgbClr val="7E8CA3"/>
                </a:solidFill>
                <a:latin typeface="Georgia" pitchFamily="34" charset="0"/>
                <a:ea typeface="Georgia" pitchFamily="34" charset="-122"/>
                <a:cs typeface="Georgia" pitchFamily="34" charset="-120"/>
              </a:rPr>
              <a:t>Researched and compiled by Claude Fable 5 on July 7, 2026.</a:t>
            </a:r>
            <a:endParaRPr lang="en-US" sz="1250" dirty="0"/>
          </a:p>
        </p:txBody>
      </p:sp>
      <p:sp>
        <p:nvSpPr>
          <p:cNvPr id="11" name="Text 8"/>
          <p:cNvSpPr/>
          <p:nvPr/>
        </p:nvSpPr>
        <p:spPr>
          <a:xfrm>
            <a:off x="1371600" y="6446520"/>
            <a:ext cx="9445752" cy="274320"/>
          </a:xfrm>
          <a:prstGeom prst="rect">
            <a:avLst/>
          </a:prstGeom>
          <a:noFill/>
          <a:ln/>
        </p:spPr>
        <p:txBody>
          <a:bodyPr wrap="square" lIns="0" tIns="0" rIns="0" bIns="0" rtlCol="0" anchor="ctr"/>
          <a:lstStyle/>
          <a:p>
            <a:pPr algn="ctr" indent="0" marL="0">
              <a:buNone/>
            </a:pPr>
            <a:r>
              <a:rPr lang="en-US" sz="1000" spc="100" kern="0" dirty="0">
                <a:solidFill>
                  <a:srgbClr val="7E8CA3"/>
                </a:solidFill>
                <a:latin typeface="Consolas" pitchFamily="34" charset="0"/>
                <a:ea typeface="Consolas" pitchFamily="34" charset="-122"/>
                <a:cs typeface="Consolas" pitchFamily="34" charset="-120"/>
              </a:rPr>
              <a:t>© Paul J. Clark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509"/>
        </a:solidFill>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THE BIG IDEA</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Every day, Earth mails a photo of itself into space</a:t>
            </a:r>
            <a:endParaRPr lang="en-US" sz="3400" dirty="0"/>
          </a:p>
        </p:txBody>
      </p:sp>
      <p:sp>
        <p:nvSpPr>
          <p:cNvPr id="4" name="Text 2"/>
          <p:cNvSpPr/>
          <p:nvPr/>
        </p:nvSpPr>
        <p:spPr>
          <a:xfrm>
            <a:off x="640080" y="1783080"/>
            <a:ext cx="5577840" cy="2011680"/>
          </a:xfrm>
          <a:prstGeom prst="rect">
            <a:avLst/>
          </a:prstGeom>
          <a:noFill/>
          <a:ln/>
        </p:spPr>
        <p:txBody>
          <a:bodyPr wrap="square" lIns="0" tIns="0" rIns="0" bIns="0" rtlCol="0" anchor="ctr"/>
          <a:lstStyle/>
          <a:p>
            <a:pPr algn="l" indent="0" marL="0">
              <a:lnSpc>
                <a:spcPts val="2600"/>
              </a:lnSpc>
              <a:buNone/>
            </a:pPr>
            <a:r>
              <a:rPr lang="en-US" sz="1600" dirty="0">
                <a:solidFill>
                  <a:srgbClr val="C9D6E8"/>
                </a:solidFill>
                <a:latin typeface="Calibri" pitchFamily="34" charset="0"/>
                <a:ea typeface="Calibri" pitchFamily="34" charset="-122"/>
                <a:cs typeface="Calibri" pitchFamily="34" charset="-120"/>
              </a:rPr>
              <a:t>You can see the Moon because sunlight bounces off it and into your eye. The exact same thing happens to Earth: about a third of the sunlight hitting us bounces back into space. That reflected light is basically a live snapshot of our planet, and it flies outward at the speed of light and never stops.</a:t>
            </a:r>
            <a:endParaRPr lang="en-US" sz="1600" dirty="0"/>
          </a:p>
        </p:txBody>
      </p:sp>
      <p:sp>
        <p:nvSpPr>
          <p:cNvPr id="5" name="Text 3"/>
          <p:cNvSpPr/>
          <p:nvPr/>
        </p:nvSpPr>
        <p:spPr>
          <a:xfrm>
            <a:off x="640080" y="3886200"/>
            <a:ext cx="5577840" cy="1371600"/>
          </a:xfrm>
          <a:prstGeom prst="rect">
            <a:avLst/>
          </a:prstGeom>
          <a:noFill/>
          <a:ln/>
        </p:spPr>
        <p:txBody>
          <a:bodyPr wrap="square" lIns="0" tIns="0" rIns="0" bIns="0" rtlCol="0" anchor="ctr"/>
          <a:lstStyle/>
          <a:p>
            <a:pPr algn="l" indent="0" marL="0">
              <a:lnSpc>
                <a:spcPts val="2600"/>
              </a:lnSpc>
              <a:buNone/>
            </a:pPr>
            <a:r>
              <a:rPr lang="en-US" sz="1600" dirty="0">
                <a:solidFill>
                  <a:srgbClr val="C9D6E8"/>
                </a:solidFill>
                <a:latin typeface="Calibri" pitchFamily="34" charset="0"/>
                <a:ea typeface="Calibri" pitchFamily="34" charset="-122"/>
                <a:cs typeface="Calibri" pitchFamily="34" charset="-120"/>
              </a:rPr>
              <a:t>So the sunlight that reflected off Earth in the year 33 AD is a snapshot of that day, and after nearly 2,000 years it is now a giant expanding bubble almost 2,000 light-years across.</a:t>
            </a:r>
            <a:endParaRPr lang="en-US" sz="1600" dirty="0"/>
          </a:p>
        </p:txBody>
      </p:sp>
      <p:sp>
        <p:nvSpPr>
          <p:cNvPr id="6" name="Shape 4"/>
          <p:cNvSpPr/>
          <p:nvPr/>
        </p:nvSpPr>
        <p:spPr>
          <a:xfrm>
            <a:off x="6720840" y="1783080"/>
            <a:ext cx="4846320" cy="132588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6720840" y="1783080"/>
            <a:ext cx="64008" cy="1325880"/>
          </a:xfrm>
          <a:prstGeom prst="rect">
            <a:avLst/>
          </a:prstGeom>
          <a:solidFill>
            <a:srgbClr val="FFD27D"/>
          </a:solidFill>
          <a:ln/>
        </p:spPr>
      </p:sp>
      <p:sp>
        <p:nvSpPr>
          <p:cNvPr id="8" name="Shape 6"/>
          <p:cNvSpPr/>
          <p:nvPr/>
        </p:nvSpPr>
        <p:spPr>
          <a:xfrm>
            <a:off x="7013448" y="2116836"/>
            <a:ext cx="658368" cy="658368"/>
          </a:xfrm>
          <a:prstGeom prst="ellipse">
            <a:avLst/>
          </a:prstGeom>
          <a:solidFill>
            <a:srgbClr val="0B1220"/>
          </a:solidFill>
          <a:ln w="12700">
            <a:solidFill>
              <a:srgbClr val="24314A"/>
            </a:solidFill>
            <a:prstDash val="solid"/>
          </a:ln>
        </p:spPr>
      </p:sp>
      <p:pic>
        <p:nvPicPr>
          <p:cNvPr id="9" name="Image 0" descr="preencoded.png">    </p:cNvPr>
          <p:cNvPicPr>
            <a:picLocks noChangeAspect="1"/>
          </p:cNvPicPr>
          <p:nvPr/>
        </p:nvPicPr>
        <p:blipFill>
          <a:blip r:embed="rId1"/>
          <a:stretch>
            <a:fillRect/>
          </a:stretch>
        </p:blipFill>
        <p:spPr>
          <a:xfrm>
            <a:off x="7187184" y="2290572"/>
            <a:ext cx="310896" cy="310896"/>
          </a:xfrm>
          <a:prstGeom prst="rect">
            <a:avLst/>
          </a:prstGeom>
        </p:spPr>
      </p:pic>
      <p:sp>
        <p:nvSpPr>
          <p:cNvPr id="10" name="Text 7"/>
          <p:cNvSpPr/>
          <p:nvPr/>
        </p:nvSpPr>
        <p:spPr>
          <a:xfrm>
            <a:off x="7955280" y="1783080"/>
            <a:ext cx="3429000" cy="1325880"/>
          </a:xfrm>
          <a:prstGeom prst="rect">
            <a:avLst/>
          </a:prstGeom>
          <a:noFill/>
          <a:ln/>
        </p:spPr>
        <p:txBody>
          <a:bodyPr wrap="square" lIns="0" tIns="0" rIns="0" bIns="0" rtlCol="0" anchor="ctr"/>
          <a:lstStyle/>
          <a:p>
            <a:pPr indent="0" marL="0">
              <a:lnSpc>
                <a:spcPts val="1800"/>
              </a:lnSpc>
              <a:buNone/>
            </a:pPr>
            <a:r>
              <a:rPr lang="en-US" sz="1700" b="1" dirty="0">
                <a:solidFill>
                  <a:srgbClr val="DFF1FF"/>
                </a:solidFill>
                <a:latin typeface="Georgia" pitchFamily="34" charset="0"/>
                <a:ea typeface="Georgia" pitchFamily="34" charset="-122"/>
                <a:cs typeface="Georgia" pitchFamily="34" charset="-120"/>
              </a:rPr>
              <a:t>Sunlight hits Earth</a:t>
            </a:r>
            <a:endParaRPr lang="en-US" sz="1700" dirty="0"/>
          </a:p>
          <a:p>
            <a:pPr indent="0" marL="0">
              <a:lnSpc>
                <a:spcPts val="1800"/>
              </a:lnSpc>
              <a:buNone/>
            </a:pPr>
            <a:r>
              <a:rPr lang="en-US" sz="1250" dirty="0">
                <a:solidFill>
                  <a:srgbClr val="7E8CA3"/>
                </a:solidFill>
                <a:latin typeface="Calibri" pitchFamily="34" charset="0"/>
                <a:ea typeface="Calibri" pitchFamily="34" charset="-122"/>
                <a:cs typeface="Calibri" pitchFamily="34" charset="-120"/>
              </a:rPr>
              <a:t>Half the planet is lit at any moment.</a:t>
            </a:r>
            <a:endParaRPr lang="en-US" sz="1700" dirty="0"/>
          </a:p>
        </p:txBody>
      </p:sp>
      <p:sp>
        <p:nvSpPr>
          <p:cNvPr id="11" name="Shape 8"/>
          <p:cNvSpPr/>
          <p:nvPr/>
        </p:nvSpPr>
        <p:spPr>
          <a:xfrm>
            <a:off x="6720840" y="3364992"/>
            <a:ext cx="4846320" cy="132588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6720840" y="3364992"/>
            <a:ext cx="64008" cy="1325880"/>
          </a:xfrm>
          <a:prstGeom prst="rect">
            <a:avLst/>
          </a:prstGeom>
          <a:solidFill>
            <a:srgbClr val="FFD27D"/>
          </a:solidFill>
          <a:ln/>
        </p:spPr>
      </p:sp>
      <p:sp>
        <p:nvSpPr>
          <p:cNvPr id="13" name="Shape 10"/>
          <p:cNvSpPr/>
          <p:nvPr/>
        </p:nvSpPr>
        <p:spPr>
          <a:xfrm>
            <a:off x="7013448" y="3698748"/>
            <a:ext cx="658368" cy="658368"/>
          </a:xfrm>
          <a:prstGeom prst="ellipse">
            <a:avLst/>
          </a:prstGeom>
          <a:solidFill>
            <a:srgbClr val="0B1220"/>
          </a:solidFill>
          <a:ln w="12700">
            <a:solidFill>
              <a:srgbClr val="24314A"/>
            </a:solidFill>
            <a:prstDash val="solid"/>
          </a:ln>
        </p:spPr>
      </p:sp>
      <p:pic>
        <p:nvPicPr>
          <p:cNvPr id="14" name="Image 1" descr="preencoded.png">    </p:cNvPr>
          <p:cNvPicPr>
            <a:picLocks noChangeAspect="1"/>
          </p:cNvPicPr>
          <p:nvPr/>
        </p:nvPicPr>
        <p:blipFill>
          <a:blip r:embed="rId2"/>
          <a:stretch>
            <a:fillRect/>
          </a:stretch>
        </p:blipFill>
        <p:spPr>
          <a:xfrm>
            <a:off x="7187184" y="3872484"/>
            <a:ext cx="310896" cy="310896"/>
          </a:xfrm>
          <a:prstGeom prst="rect">
            <a:avLst/>
          </a:prstGeom>
        </p:spPr>
      </p:pic>
      <p:sp>
        <p:nvSpPr>
          <p:cNvPr id="15" name="Text 11"/>
          <p:cNvSpPr/>
          <p:nvPr/>
        </p:nvSpPr>
        <p:spPr>
          <a:xfrm>
            <a:off x="7955280" y="3364992"/>
            <a:ext cx="3429000" cy="1325880"/>
          </a:xfrm>
          <a:prstGeom prst="rect">
            <a:avLst/>
          </a:prstGeom>
          <a:noFill/>
          <a:ln/>
        </p:spPr>
        <p:txBody>
          <a:bodyPr wrap="square" lIns="0" tIns="0" rIns="0" bIns="0" rtlCol="0" anchor="ctr"/>
          <a:lstStyle/>
          <a:p>
            <a:pPr indent="0" marL="0">
              <a:lnSpc>
                <a:spcPts val="1800"/>
              </a:lnSpc>
              <a:buNone/>
            </a:pPr>
            <a:r>
              <a:rPr lang="en-US" sz="1700" b="1" dirty="0">
                <a:solidFill>
                  <a:srgbClr val="DFF1FF"/>
                </a:solidFill>
                <a:latin typeface="Georgia" pitchFamily="34" charset="0"/>
                <a:ea typeface="Georgia" pitchFamily="34" charset="-122"/>
                <a:cs typeface="Georgia" pitchFamily="34" charset="-120"/>
              </a:rPr>
              <a:t>A third bounces back</a:t>
            </a:r>
            <a:endParaRPr lang="en-US" sz="1700" dirty="0"/>
          </a:p>
          <a:p>
            <a:pPr indent="0" marL="0">
              <a:lnSpc>
                <a:spcPts val="1800"/>
              </a:lnSpc>
              <a:buNone/>
            </a:pPr>
            <a:r>
              <a:rPr lang="en-US" sz="1250" dirty="0">
                <a:solidFill>
                  <a:srgbClr val="7E8CA3"/>
                </a:solidFill>
                <a:latin typeface="Calibri" pitchFamily="34" charset="0"/>
                <a:ea typeface="Calibri" pitchFamily="34" charset="-122"/>
                <a:cs typeface="Calibri" pitchFamily="34" charset="-120"/>
              </a:rPr>
              <a:t>That reflected glow carries our image.</a:t>
            </a:r>
            <a:endParaRPr lang="en-US" sz="1700" dirty="0"/>
          </a:p>
        </p:txBody>
      </p:sp>
      <p:sp>
        <p:nvSpPr>
          <p:cNvPr id="16" name="Shape 12"/>
          <p:cNvSpPr/>
          <p:nvPr/>
        </p:nvSpPr>
        <p:spPr>
          <a:xfrm>
            <a:off x="6720840" y="4946904"/>
            <a:ext cx="4846320" cy="132588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6720840" y="4946904"/>
            <a:ext cx="64008" cy="1325880"/>
          </a:xfrm>
          <a:prstGeom prst="rect">
            <a:avLst/>
          </a:prstGeom>
          <a:solidFill>
            <a:srgbClr val="FFD27D"/>
          </a:solidFill>
          <a:ln/>
        </p:spPr>
      </p:sp>
      <p:sp>
        <p:nvSpPr>
          <p:cNvPr id="18" name="Shape 14"/>
          <p:cNvSpPr/>
          <p:nvPr/>
        </p:nvSpPr>
        <p:spPr>
          <a:xfrm>
            <a:off x="7013448" y="5280660"/>
            <a:ext cx="658368" cy="658368"/>
          </a:xfrm>
          <a:prstGeom prst="ellipse">
            <a:avLst/>
          </a:prstGeom>
          <a:solidFill>
            <a:srgbClr val="0B1220"/>
          </a:solidFill>
          <a:ln w="12700">
            <a:solidFill>
              <a:srgbClr val="24314A"/>
            </a:solidFill>
            <a:prstDash val="solid"/>
          </a:ln>
        </p:spPr>
      </p:sp>
      <p:pic>
        <p:nvPicPr>
          <p:cNvPr id="19" name="Image 2" descr="preencoded.png">    </p:cNvPr>
          <p:cNvPicPr>
            <a:picLocks noChangeAspect="1"/>
          </p:cNvPicPr>
          <p:nvPr/>
        </p:nvPicPr>
        <p:blipFill>
          <a:blip r:embed="rId3"/>
          <a:stretch>
            <a:fillRect/>
          </a:stretch>
        </p:blipFill>
        <p:spPr>
          <a:xfrm>
            <a:off x="7187184" y="5454396"/>
            <a:ext cx="310896" cy="310896"/>
          </a:xfrm>
          <a:prstGeom prst="rect">
            <a:avLst/>
          </a:prstGeom>
        </p:spPr>
      </p:pic>
      <p:sp>
        <p:nvSpPr>
          <p:cNvPr id="20" name="Text 15"/>
          <p:cNvSpPr/>
          <p:nvPr/>
        </p:nvSpPr>
        <p:spPr>
          <a:xfrm>
            <a:off x="7955280" y="4946904"/>
            <a:ext cx="3429000" cy="1325880"/>
          </a:xfrm>
          <a:prstGeom prst="rect">
            <a:avLst/>
          </a:prstGeom>
          <a:noFill/>
          <a:ln/>
        </p:spPr>
        <p:txBody>
          <a:bodyPr wrap="square" lIns="0" tIns="0" rIns="0" bIns="0" rtlCol="0" anchor="ctr"/>
          <a:lstStyle/>
          <a:p>
            <a:pPr indent="0" marL="0">
              <a:lnSpc>
                <a:spcPts val="1800"/>
              </a:lnSpc>
              <a:buNone/>
            </a:pPr>
            <a:r>
              <a:rPr lang="en-US" sz="1700" b="1" dirty="0">
                <a:solidFill>
                  <a:srgbClr val="DFF1FF"/>
                </a:solidFill>
                <a:latin typeface="Georgia" pitchFamily="34" charset="0"/>
                <a:ea typeface="Georgia" pitchFamily="34" charset="-122"/>
                <a:cs typeface="Georgia" pitchFamily="34" charset="-120"/>
              </a:rPr>
              <a:t>It travels forever</a:t>
            </a:r>
            <a:endParaRPr lang="en-US" sz="1700" dirty="0"/>
          </a:p>
          <a:p>
            <a:pPr indent="0" marL="0">
              <a:lnSpc>
                <a:spcPts val="1800"/>
              </a:lnSpc>
              <a:buNone/>
            </a:pPr>
            <a:r>
              <a:rPr lang="en-US" sz="1250" dirty="0">
                <a:solidFill>
                  <a:srgbClr val="7E8CA3"/>
                </a:solidFill>
                <a:latin typeface="Calibri" pitchFamily="34" charset="0"/>
                <a:ea typeface="Calibri" pitchFamily="34" charset="-122"/>
                <a:cs typeface="Calibri" pitchFamily="34" charset="-120"/>
              </a:rPr>
              <a:t>One light-year of distance for every year.</a:t>
            </a:r>
            <a:endParaRPr lang="en-US" sz="1700" dirty="0"/>
          </a:p>
        </p:txBody>
      </p:sp>
      <p:sp>
        <p:nvSpPr>
          <p:cNvPr id="21" name="Shape 16"/>
          <p:cNvSpPr/>
          <p:nvPr/>
        </p:nvSpPr>
        <p:spPr>
          <a:xfrm>
            <a:off x="640080" y="6419088"/>
            <a:ext cx="10908792" cy="0"/>
          </a:xfrm>
          <a:prstGeom prst="line">
            <a:avLst/>
          </a:prstGeom>
          <a:noFill/>
          <a:ln w="12700">
            <a:solidFill>
              <a:srgbClr val="24314A"/>
            </a:solidFill>
            <a:prstDash val="solid"/>
          </a:ln>
        </p:spPr>
      </p:sp>
      <p:sp>
        <p:nvSpPr>
          <p:cNvPr id="22" name="Text 17"/>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23" name="Text 18"/>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24" name="Text 19"/>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QUESTION 1  ·  WHERE IS IT NOW?</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A bubble of ancient light, 1,993 light-years wide</a:t>
            </a:r>
            <a:endParaRPr lang="en-US" sz="3400" dirty="0"/>
          </a:p>
        </p:txBody>
      </p:sp>
      <p:pic>
        <p:nvPicPr>
          <p:cNvPr id="4" name="Image 0" descr="preencoded.png">    </p:cNvPr>
          <p:cNvPicPr>
            <a:picLocks noChangeAspect="1"/>
          </p:cNvPicPr>
          <p:nvPr/>
        </p:nvPicPr>
        <p:blipFill>
          <a:blip r:embed="rId2"/>
          <a:stretch>
            <a:fillRect/>
          </a:stretch>
        </p:blipFill>
        <p:spPr>
          <a:xfrm>
            <a:off x="7452360" y="1554480"/>
            <a:ext cx="4572000" cy="4572000"/>
          </a:xfrm>
          <a:prstGeom prst="rect">
            <a:avLst/>
          </a:prstGeom>
        </p:spPr>
      </p:pic>
      <p:sp>
        <p:nvSpPr>
          <p:cNvPr id="5" name="Text 2"/>
          <p:cNvSpPr/>
          <p:nvPr/>
        </p:nvSpPr>
        <p:spPr>
          <a:xfrm>
            <a:off x="7452360" y="5989320"/>
            <a:ext cx="4572000" cy="274320"/>
          </a:xfrm>
          <a:prstGeom prst="rect">
            <a:avLst/>
          </a:prstGeom>
          <a:noFill/>
          <a:ln/>
        </p:spPr>
        <p:txBody>
          <a:bodyPr wrap="square" lIns="0" tIns="0" rIns="0" bIns="0" rtlCol="0" anchor="ctr"/>
          <a:lstStyle/>
          <a:p>
            <a:pPr algn="ctr" indent="0" marL="0">
              <a:buNone/>
            </a:pPr>
            <a:r>
              <a:rPr lang="en-US" sz="900" spc="100" kern="0" dirty="0">
                <a:solidFill>
                  <a:srgbClr val="7E8CA3"/>
                </a:solidFill>
                <a:latin typeface="Consolas" pitchFamily="34" charset="0"/>
                <a:ea typeface="Consolas" pitchFamily="34" charset="-122"/>
                <a:cs typeface="Consolas" pitchFamily="34" charset="-120"/>
              </a:rPr>
              <a:t>YOU ARE HERE  ·  the bright edge</a:t>
            </a:r>
            <a:endParaRPr lang="en-US" sz="900" dirty="0"/>
          </a:p>
        </p:txBody>
      </p:sp>
      <p:sp>
        <p:nvSpPr>
          <p:cNvPr id="6" name="Text 3"/>
          <p:cNvSpPr/>
          <p:nvPr/>
        </p:nvSpPr>
        <p:spPr>
          <a:xfrm>
            <a:off x="640080" y="1874520"/>
            <a:ext cx="6400800" cy="1554480"/>
          </a:xfrm>
          <a:prstGeom prst="rect">
            <a:avLst/>
          </a:prstGeom>
          <a:noFill/>
          <a:ln/>
        </p:spPr>
        <p:txBody>
          <a:bodyPr wrap="square" lIns="0" tIns="0" rIns="0" bIns="0" rtlCol="0" anchor="t"/>
          <a:lstStyle/>
          <a:p>
            <a:pPr algn="l" indent="0" marL="0">
              <a:lnSpc>
                <a:spcPts val="7000"/>
              </a:lnSpc>
              <a:buNone/>
            </a:pPr>
            <a:r>
              <a:rPr lang="en-US" sz="7600" b="1" dirty="0">
                <a:solidFill>
                  <a:srgbClr val="FFD27D"/>
                </a:solidFill>
                <a:latin typeface="Georgia" pitchFamily="34" charset="0"/>
                <a:ea typeface="Georgia" pitchFamily="34" charset="-122"/>
                <a:cs typeface="Georgia" pitchFamily="34" charset="-120"/>
              </a:rPr>
              <a:t>1,993</a:t>
            </a:r>
            <a:endParaRPr lang="en-US" sz="7600" dirty="0"/>
          </a:p>
          <a:p>
            <a:pPr algn="l" indent="0" marL="0">
              <a:lnSpc>
                <a:spcPts val="7000"/>
              </a:lnSpc>
              <a:buNone/>
            </a:pPr>
            <a:r>
              <a:rPr lang="en-US" sz="1200" spc="200" kern="0" dirty="0">
                <a:solidFill>
                  <a:srgbClr val="DFF1FF"/>
                </a:solidFill>
                <a:latin typeface="Consolas" pitchFamily="34" charset="0"/>
                <a:ea typeface="Consolas" pitchFamily="34" charset="-122"/>
                <a:cs typeface="Consolas" pitchFamily="34" charset="-120"/>
              </a:rPr>
              <a:t>LIGHT-YEARS FROM EARTH, TODAY</a:t>
            </a:r>
            <a:endParaRPr lang="en-US" sz="7600" dirty="0"/>
          </a:p>
        </p:txBody>
      </p:sp>
      <p:sp>
        <p:nvSpPr>
          <p:cNvPr id="7" name="Text 4"/>
          <p:cNvSpPr/>
          <p:nvPr/>
        </p:nvSpPr>
        <p:spPr>
          <a:xfrm>
            <a:off x="640080" y="3520440"/>
            <a:ext cx="6400800" cy="1828800"/>
          </a:xfrm>
          <a:prstGeom prst="rect">
            <a:avLst/>
          </a:prstGeom>
          <a:noFill/>
          <a:ln/>
        </p:spPr>
        <p:txBody>
          <a:bodyPr wrap="square" lIns="0" tIns="0" rIns="0" bIns="0" rtlCol="0" anchor="ctr"/>
          <a:lstStyle/>
          <a:p>
            <a:pPr algn="l" indent="0" marL="0">
              <a:lnSpc>
                <a:spcPts val="2500"/>
              </a:lnSpc>
              <a:buNone/>
            </a:pPr>
            <a:r>
              <a:rPr lang="en-US" sz="1500" dirty="0">
                <a:solidFill>
                  <a:srgbClr val="C9D6E8"/>
                </a:solidFill>
                <a:latin typeface="Calibri" pitchFamily="34" charset="0"/>
                <a:ea typeface="Calibri" pitchFamily="34" charset="-122"/>
                <a:cs typeface="Calibri" pitchFamily="34" charset="-120"/>
              </a:rPr>
              <a:t>The rule is simple: light covers one light-year of distance each year. From 33 AD to today is 1,993 years, so the leading edge of that 33 AD snapshot is now 1,993 light-years away in every direction. It is not a flat disk but a hollow shell, like the surface of an ever-growing balloon with Earth at the center.</a:t>
            </a:r>
            <a:endParaRPr lang="en-US" sz="1500" dirty="0"/>
          </a:p>
        </p:txBody>
      </p:sp>
      <p:sp>
        <p:nvSpPr>
          <p:cNvPr id="8" name="Shape 5"/>
          <p:cNvSpPr/>
          <p:nvPr/>
        </p:nvSpPr>
        <p:spPr>
          <a:xfrm>
            <a:off x="640080" y="5440680"/>
            <a:ext cx="3108960" cy="868680"/>
          </a:xfrm>
          <a:prstGeom prst="rect">
            <a:avLst/>
          </a:prstGeom>
          <a:solidFill>
            <a:srgbClr val="0B1220"/>
          </a:solidFill>
          <a:ln w="12700">
            <a:solidFill>
              <a:srgbClr val="24314A"/>
            </a:solidFill>
            <a:prstDash val="solid"/>
          </a:ln>
        </p:spPr>
      </p:sp>
      <p:sp>
        <p:nvSpPr>
          <p:cNvPr id="9" name="Text 6"/>
          <p:cNvSpPr/>
          <p:nvPr/>
        </p:nvSpPr>
        <p:spPr>
          <a:xfrm>
            <a:off x="868680" y="5440680"/>
            <a:ext cx="2743200" cy="868680"/>
          </a:xfrm>
          <a:prstGeom prst="rect">
            <a:avLst/>
          </a:prstGeom>
          <a:noFill/>
          <a:ln/>
        </p:spPr>
        <p:txBody>
          <a:bodyPr wrap="square" lIns="0" tIns="0" rIns="0" bIns="0" rtlCol="0" anchor="ctr"/>
          <a:lstStyle/>
          <a:p>
            <a:pPr indent="0" marL="0">
              <a:lnSpc>
                <a:spcPts val="1700"/>
              </a:lnSpc>
              <a:buNone/>
            </a:pPr>
            <a:r>
              <a:rPr lang="en-US" sz="1900" b="1" dirty="0">
                <a:solidFill>
                  <a:srgbClr val="DFF1FF"/>
                </a:solidFill>
                <a:latin typeface="Georgia" pitchFamily="34" charset="0"/>
                <a:ea typeface="Georgia" pitchFamily="34" charset="-122"/>
                <a:cs typeface="Georgia" pitchFamily="34" charset="-120"/>
              </a:rPr>
              <a:t>~60 million</a:t>
            </a:r>
            <a:endParaRPr lang="en-US" sz="1900" dirty="0"/>
          </a:p>
          <a:p>
            <a:pPr indent="0" marL="0">
              <a:lnSpc>
                <a:spcPts val="1700"/>
              </a:lnSpc>
              <a:buNone/>
            </a:pPr>
            <a:r>
              <a:rPr lang="en-US" sz="1150" dirty="0">
                <a:solidFill>
                  <a:srgbClr val="7E8CA3"/>
                </a:solidFill>
                <a:latin typeface="Calibri" pitchFamily="34" charset="0"/>
                <a:ea typeface="Calibri" pitchFamily="34" charset="-122"/>
                <a:cs typeface="Calibri" pitchFamily="34" charset="-120"/>
              </a:rPr>
              <a:t>stars now sit inside the bubble</a:t>
            </a:r>
            <a:endParaRPr lang="en-US" sz="1900" dirty="0"/>
          </a:p>
        </p:txBody>
      </p:sp>
      <p:sp>
        <p:nvSpPr>
          <p:cNvPr id="10" name="Shape 7"/>
          <p:cNvSpPr/>
          <p:nvPr/>
        </p:nvSpPr>
        <p:spPr>
          <a:xfrm>
            <a:off x="3977640" y="5440680"/>
            <a:ext cx="3108960" cy="868680"/>
          </a:xfrm>
          <a:prstGeom prst="rect">
            <a:avLst/>
          </a:prstGeom>
          <a:solidFill>
            <a:srgbClr val="0B1220"/>
          </a:solidFill>
          <a:ln w="12700">
            <a:solidFill>
              <a:srgbClr val="24314A"/>
            </a:solidFill>
            <a:prstDash val="solid"/>
          </a:ln>
        </p:spPr>
      </p:sp>
      <p:sp>
        <p:nvSpPr>
          <p:cNvPr id="11" name="Text 8"/>
          <p:cNvSpPr/>
          <p:nvPr/>
        </p:nvSpPr>
        <p:spPr>
          <a:xfrm>
            <a:off x="4206240" y="5440680"/>
            <a:ext cx="2743200" cy="868680"/>
          </a:xfrm>
          <a:prstGeom prst="rect">
            <a:avLst/>
          </a:prstGeom>
          <a:noFill/>
          <a:ln/>
        </p:spPr>
        <p:txBody>
          <a:bodyPr wrap="square" lIns="0" tIns="0" rIns="0" bIns="0" rtlCol="0" anchor="ctr"/>
          <a:lstStyle/>
          <a:p>
            <a:pPr indent="0" marL="0">
              <a:lnSpc>
                <a:spcPts val="1700"/>
              </a:lnSpc>
              <a:buNone/>
            </a:pPr>
            <a:r>
              <a:rPr lang="en-US" sz="1900" b="1" dirty="0">
                <a:solidFill>
                  <a:srgbClr val="DFF1FF"/>
                </a:solidFill>
                <a:latin typeface="Georgia" pitchFamily="34" charset="0"/>
                <a:ea typeface="Georgia" pitchFamily="34" charset="-122"/>
                <a:cs typeface="Georgia" pitchFamily="34" charset="-120"/>
              </a:rPr>
              <a:t>Half the sky</a:t>
            </a:r>
            <a:endParaRPr lang="en-US" sz="1900" dirty="0"/>
          </a:p>
          <a:p>
            <a:pPr indent="0" marL="0">
              <a:lnSpc>
                <a:spcPts val="1700"/>
              </a:lnSpc>
              <a:buNone/>
            </a:pPr>
            <a:r>
              <a:rPr lang="en-US" sz="1150" dirty="0">
                <a:solidFill>
                  <a:srgbClr val="7E8CA3"/>
                </a:solidFill>
                <a:latin typeface="Calibri" pitchFamily="34" charset="0"/>
                <a:ea typeface="Calibri" pitchFamily="34" charset="-122"/>
                <a:cs typeface="Calibri" pitchFamily="34" charset="-120"/>
              </a:rPr>
              <a:t>glows on the day-lit side</a:t>
            </a:r>
            <a:endParaRPr lang="en-US" sz="1900" dirty="0"/>
          </a:p>
        </p:txBody>
      </p:sp>
      <p:sp>
        <p:nvSpPr>
          <p:cNvPr id="12" name="Shape 9"/>
          <p:cNvSpPr/>
          <p:nvPr/>
        </p:nvSpPr>
        <p:spPr>
          <a:xfrm>
            <a:off x="640080" y="6419088"/>
            <a:ext cx="10908792" cy="0"/>
          </a:xfrm>
          <a:prstGeom prst="line">
            <a:avLst/>
          </a:prstGeom>
          <a:noFill/>
          <a:ln w="12700">
            <a:solidFill>
              <a:srgbClr val="24314A"/>
            </a:solidFill>
            <a:prstDash val="solid"/>
          </a:ln>
        </p:spPr>
      </p:sp>
      <p:sp>
        <p:nvSpPr>
          <p:cNvPr id="13" name="Text 10"/>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14" name="Text 11"/>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15" name="Text 12"/>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0509"/>
        </a:solidFill>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THE JOURNEY</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Stars the 33 AD light has already washed over</a:t>
            </a:r>
            <a:endParaRPr lang="en-US" sz="3400" dirty="0"/>
          </a:p>
        </p:txBody>
      </p:sp>
      <p:sp>
        <p:nvSpPr>
          <p:cNvPr id="4" name="Text 2"/>
          <p:cNvSpPr/>
          <p:nvPr/>
        </p:nvSpPr>
        <p:spPr>
          <a:xfrm>
            <a:off x="640080" y="1691640"/>
            <a:ext cx="10881360" cy="640080"/>
          </a:xfrm>
          <a:prstGeom prst="rect">
            <a:avLst/>
          </a:prstGeom>
          <a:noFill/>
          <a:ln/>
        </p:spPr>
        <p:txBody>
          <a:bodyPr wrap="square" lIns="0" tIns="0" rIns="0" bIns="0" rtlCol="0" anchor="ctr"/>
          <a:lstStyle/>
          <a:p>
            <a:pPr algn="l" indent="0" marL="0">
              <a:lnSpc>
                <a:spcPts val="2100"/>
              </a:lnSpc>
              <a:buNone/>
            </a:pPr>
            <a:r>
              <a:rPr lang="en-US" sz="1400" dirty="0">
                <a:solidFill>
                  <a:srgbClr val="7E8CA3"/>
                </a:solidFill>
                <a:latin typeface="Calibri" pitchFamily="34" charset="0"/>
                <a:ea typeface="Calibri" pitchFamily="34" charset="-122"/>
                <a:cs typeface="Calibri" pitchFamily="34" charset="-120"/>
              </a:rPr>
              <a:t>As the bubble expanded, it swept past one star after another. The year in parentheses is when our 33 AD snapshot reached that star.</a:t>
            </a:r>
            <a:endParaRPr lang="en-US" sz="1400" dirty="0"/>
          </a:p>
        </p:txBody>
      </p:sp>
      <p:sp>
        <p:nvSpPr>
          <p:cNvPr id="5" name="Shape 3"/>
          <p:cNvSpPr/>
          <p:nvPr/>
        </p:nvSpPr>
        <p:spPr>
          <a:xfrm>
            <a:off x="1234440" y="3429000"/>
            <a:ext cx="9720072" cy="0"/>
          </a:xfrm>
          <a:prstGeom prst="line">
            <a:avLst/>
          </a:prstGeom>
          <a:noFill/>
          <a:ln w="25400">
            <a:solidFill>
              <a:srgbClr val="24314A"/>
            </a:solidFill>
            <a:prstDash val="solid"/>
          </a:ln>
        </p:spPr>
      </p:sp>
      <p:sp>
        <p:nvSpPr>
          <p:cNvPr id="6" name="Shape 4"/>
          <p:cNvSpPr/>
          <p:nvPr/>
        </p:nvSpPr>
        <p:spPr>
          <a:xfrm>
            <a:off x="1234440" y="2971800"/>
            <a:ext cx="0" cy="457200"/>
          </a:xfrm>
          <a:prstGeom prst="line">
            <a:avLst/>
          </a:prstGeom>
          <a:noFill/>
          <a:ln w="12700">
            <a:solidFill>
              <a:srgbClr val="24314A"/>
            </a:solidFill>
            <a:prstDash val="solid"/>
          </a:ln>
        </p:spPr>
      </p:sp>
      <p:sp>
        <p:nvSpPr>
          <p:cNvPr id="7" name="Shape 5"/>
          <p:cNvSpPr/>
          <p:nvPr/>
        </p:nvSpPr>
        <p:spPr>
          <a:xfrm>
            <a:off x="1152144" y="3346704"/>
            <a:ext cx="164592" cy="164592"/>
          </a:xfrm>
          <a:prstGeom prst="ellipse">
            <a:avLst/>
          </a:prstGeom>
          <a:solidFill>
            <a:srgbClr val="FFD27D"/>
          </a:solidFill>
          <a:ln w="19050">
            <a:solidFill>
              <a:srgbClr val="030509"/>
            </a:solidFill>
            <a:prstDash val="solid"/>
          </a:ln>
        </p:spPr>
      </p:sp>
      <p:sp>
        <p:nvSpPr>
          <p:cNvPr id="8" name="Text 6"/>
          <p:cNvSpPr/>
          <p:nvPr/>
        </p:nvSpPr>
        <p:spPr>
          <a:xfrm>
            <a:off x="525780" y="2057400"/>
            <a:ext cx="1417320" cy="914400"/>
          </a:xfrm>
          <a:prstGeom prst="rect">
            <a:avLst/>
          </a:prstGeom>
          <a:noFill/>
          <a:ln/>
        </p:spPr>
        <p:txBody>
          <a:bodyPr wrap="square" lIns="0" tIns="0" rIns="0" bIns="0" rtlCol="0" anchor="b"/>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Alpha Centauri</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4.4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37 AD</a:t>
            </a:r>
            <a:endParaRPr lang="en-US" sz="1250" dirty="0"/>
          </a:p>
        </p:txBody>
      </p:sp>
      <p:sp>
        <p:nvSpPr>
          <p:cNvPr id="9" name="Shape 7"/>
          <p:cNvSpPr/>
          <p:nvPr/>
        </p:nvSpPr>
        <p:spPr>
          <a:xfrm>
            <a:off x="2623022" y="3429000"/>
            <a:ext cx="0" cy="457200"/>
          </a:xfrm>
          <a:prstGeom prst="line">
            <a:avLst/>
          </a:prstGeom>
          <a:noFill/>
          <a:ln w="12700">
            <a:solidFill>
              <a:srgbClr val="24314A"/>
            </a:solidFill>
            <a:prstDash val="solid"/>
          </a:ln>
        </p:spPr>
      </p:sp>
      <p:sp>
        <p:nvSpPr>
          <p:cNvPr id="10" name="Shape 8"/>
          <p:cNvSpPr/>
          <p:nvPr/>
        </p:nvSpPr>
        <p:spPr>
          <a:xfrm>
            <a:off x="2540726" y="3346704"/>
            <a:ext cx="164592" cy="164592"/>
          </a:xfrm>
          <a:prstGeom prst="ellipse">
            <a:avLst/>
          </a:prstGeom>
          <a:solidFill>
            <a:srgbClr val="FFD27D"/>
          </a:solidFill>
          <a:ln w="19050">
            <a:solidFill>
              <a:srgbClr val="030509"/>
            </a:solidFill>
            <a:prstDash val="solid"/>
          </a:ln>
        </p:spPr>
      </p:sp>
      <p:sp>
        <p:nvSpPr>
          <p:cNvPr id="11" name="Text 9"/>
          <p:cNvSpPr/>
          <p:nvPr/>
        </p:nvSpPr>
        <p:spPr>
          <a:xfrm>
            <a:off x="1914362" y="3931920"/>
            <a:ext cx="1417320" cy="914400"/>
          </a:xfrm>
          <a:prstGeom prst="rect">
            <a:avLst/>
          </a:prstGeom>
          <a:noFill/>
          <a:ln/>
        </p:spPr>
        <p:txBody>
          <a:bodyPr wrap="square" lIns="0" tIns="0" rIns="0" bIns="0" rtlCol="0" anchor="t"/>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Sirius</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8.6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42 AD</a:t>
            </a:r>
            <a:endParaRPr lang="en-US" sz="1250" dirty="0"/>
          </a:p>
        </p:txBody>
      </p:sp>
      <p:sp>
        <p:nvSpPr>
          <p:cNvPr id="12" name="Shape 10"/>
          <p:cNvSpPr/>
          <p:nvPr/>
        </p:nvSpPr>
        <p:spPr>
          <a:xfrm>
            <a:off x="4011603" y="2971800"/>
            <a:ext cx="0" cy="457200"/>
          </a:xfrm>
          <a:prstGeom prst="line">
            <a:avLst/>
          </a:prstGeom>
          <a:noFill/>
          <a:ln w="12700">
            <a:solidFill>
              <a:srgbClr val="24314A"/>
            </a:solidFill>
            <a:prstDash val="solid"/>
          </a:ln>
        </p:spPr>
      </p:sp>
      <p:sp>
        <p:nvSpPr>
          <p:cNvPr id="13" name="Shape 11"/>
          <p:cNvSpPr/>
          <p:nvPr/>
        </p:nvSpPr>
        <p:spPr>
          <a:xfrm>
            <a:off x="3929307" y="3346704"/>
            <a:ext cx="164592" cy="164592"/>
          </a:xfrm>
          <a:prstGeom prst="ellipse">
            <a:avLst/>
          </a:prstGeom>
          <a:solidFill>
            <a:srgbClr val="FFD27D"/>
          </a:solidFill>
          <a:ln w="19050">
            <a:solidFill>
              <a:srgbClr val="030509"/>
            </a:solidFill>
            <a:prstDash val="solid"/>
          </a:ln>
        </p:spPr>
      </p:sp>
      <p:sp>
        <p:nvSpPr>
          <p:cNvPr id="14" name="Text 12"/>
          <p:cNvSpPr/>
          <p:nvPr/>
        </p:nvSpPr>
        <p:spPr>
          <a:xfrm>
            <a:off x="3302943" y="2057400"/>
            <a:ext cx="1417320" cy="914400"/>
          </a:xfrm>
          <a:prstGeom prst="rect">
            <a:avLst/>
          </a:prstGeom>
          <a:noFill/>
          <a:ln/>
        </p:spPr>
        <p:txBody>
          <a:bodyPr wrap="square" lIns="0" tIns="0" rIns="0" bIns="0" rtlCol="0" anchor="b"/>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Vega</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25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58 AD</a:t>
            </a:r>
            <a:endParaRPr lang="en-US" sz="1250" dirty="0"/>
          </a:p>
        </p:txBody>
      </p:sp>
      <p:sp>
        <p:nvSpPr>
          <p:cNvPr id="15" name="Shape 13"/>
          <p:cNvSpPr/>
          <p:nvPr/>
        </p:nvSpPr>
        <p:spPr>
          <a:xfrm>
            <a:off x="5400185" y="3429000"/>
            <a:ext cx="0" cy="457200"/>
          </a:xfrm>
          <a:prstGeom prst="line">
            <a:avLst/>
          </a:prstGeom>
          <a:noFill/>
          <a:ln w="12700">
            <a:solidFill>
              <a:srgbClr val="24314A"/>
            </a:solidFill>
            <a:prstDash val="solid"/>
          </a:ln>
        </p:spPr>
      </p:sp>
      <p:sp>
        <p:nvSpPr>
          <p:cNvPr id="16" name="Shape 14"/>
          <p:cNvSpPr/>
          <p:nvPr/>
        </p:nvSpPr>
        <p:spPr>
          <a:xfrm>
            <a:off x="5317889" y="3346704"/>
            <a:ext cx="164592" cy="164592"/>
          </a:xfrm>
          <a:prstGeom prst="ellipse">
            <a:avLst/>
          </a:prstGeom>
          <a:solidFill>
            <a:srgbClr val="FFD27D"/>
          </a:solidFill>
          <a:ln w="19050">
            <a:solidFill>
              <a:srgbClr val="030509"/>
            </a:solidFill>
            <a:prstDash val="solid"/>
          </a:ln>
        </p:spPr>
      </p:sp>
      <p:sp>
        <p:nvSpPr>
          <p:cNvPr id="17" name="Text 15"/>
          <p:cNvSpPr/>
          <p:nvPr/>
        </p:nvSpPr>
        <p:spPr>
          <a:xfrm>
            <a:off x="4691525" y="3931920"/>
            <a:ext cx="1417320" cy="914400"/>
          </a:xfrm>
          <a:prstGeom prst="rect">
            <a:avLst/>
          </a:prstGeom>
          <a:noFill/>
          <a:ln/>
        </p:spPr>
        <p:txBody>
          <a:bodyPr wrap="square" lIns="0" tIns="0" rIns="0" bIns="0" rtlCol="0" anchor="t"/>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Aldebaran</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65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98 AD</a:t>
            </a:r>
            <a:endParaRPr lang="en-US" sz="1250" dirty="0"/>
          </a:p>
        </p:txBody>
      </p:sp>
      <p:sp>
        <p:nvSpPr>
          <p:cNvPr id="18" name="Shape 16"/>
          <p:cNvSpPr/>
          <p:nvPr/>
        </p:nvSpPr>
        <p:spPr>
          <a:xfrm>
            <a:off x="6788767" y="2971800"/>
            <a:ext cx="0" cy="457200"/>
          </a:xfrm>
          <a:prstGeom prst="line">
            <a:avLst/>
          </a:prstGeom>
          <a:noFill/>
          <a:ln w="12700">
            <a:solidFill>
              <a:srgbClr val="24314A"/>
            </a:solidFill>
            <a:prstDash val="solid"/>
          </a:ln>
        </p:spPr>
      </p:sp>
      <p:sp>
        <p:nvSpPr>
          <p:cNvPr id="19" name="Shape 17"/>
          <p:cNvSpPr/>
          <p:nvPr/>
        </p:nvSpPr>
        <p:spPr>
          <a:xfrm>
            <a:off x="6706471" y="3346704"/>
            <a:ext cx="164592" cy="164592"/>
          </a:xfrm>
          <a:prstGeom prst="ellipse">
            <a:avLst/>
          </a:prstGeom>
          <a:solidFill>
            <a:srgbClr val="FFD27D"/>
          </a:solidFill>
          <a:ln w="19050">
            <a:solidFill>
              <a:srgbClr val="030509"/>
            </a:solidFill>
            <a:prstDash val="solid"/>
          </a:ln>
        </p:spPr>
      </p:sp>
      <p:sp>
        <p:nvSpPr>
          <p:cNvPr id="20" name="Text 18"/>
          <p:cNvSpPr/>
          <p:nvPr/>
        </p:nvSpPr>
        <p:spPr>
          <a:xfrm>
            <a:off x="6080107" y="2057400"/>
            <a:ext cx="1417320" cy="914400"/>
          </a:xfrm>
          <a:prstGeom prst="rect">
            <a:avLst/>
          </a:prstGeom>
          <a:noFill/>
          <a:ln/>
        </p:spPr>
        <p:txBody>
          <a:bodyPr wrap="square" lIns="0" tIns="0" rIns="0" bIns="0" rtlCol="0" anchor="b"/>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Pleiades</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444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477 AD</a:t>
            </a:r>
            <a:endParaRPr lang="en-US" sz="1250" dirty="0"/>
          </a:p>
        </p:txBody>
      </p:sp>
      <p:sp>
        <p:nvSpPr>
          <p:cNvPr id="21" name="Shape 19"/>
          <p:cNvSpPr/>
          <p:nvPr/>
        </p:nvSpPr>
        <p:spPr>
          <a:xfrm>
            <a:off x="8177349" y="3429000"/>
            <a:ext cx="0" cy="457200"/>
          </a:xfrm>
          <a:prstGeom prst="line">
            <a:avLst/>
          </a:prstGeom>
          <a:noFill/>
          <a:ln w="12700">
            <a:solidFill>
              <a:srgbClr val="24314A"/>
            </a:solidFill>
            <a:prstDash val="solid"/>
          </a:ln>
        </p:spPr>
      </p:sp>
      <p:sp>
        <p:nvSpPr>
          <p:cNvPr id="22" name="Shape 20"/>
          <p:cNvSpPr/>
          <p:nvPr/>
        </p:nvSpPr>
        <p:spPr>
          <a:xfrm>
            <a:off x="8095053" y="3346704"/>
            <a:ext cx="164592" cy="164592"/>
          </a:xfrm>
          <a:prstGeom prst="ellipse">
            <a:avLst/>
          </a:prstGeom>
          <a:solidFill>
            <a:srgbClr val="9AA7FF"/>
          </a:solidFill>
          <a:ln w="19050">
            <a:solidFill>
              <a:srgbClr val="030509"/>
            </a:solidFill>
            <a:prstDash val="solid"/>
          </a:ln>
        </p:spPr>
      </p:sp>
      <p:sp>
        <p:nvSpPr>
          <p:cNvPr id="23" name="Text 21"/>
          <p:cNvSpPr/>
          <p:nvPr/>
        </p:nvSpPr>
        <p:spPr>
          <a:xfrm>
            <a:off x="7468689" y="3931920"/>
            <a:ext cx="1417320" cy="914400"/>
          </a:xfrm>
          <a:prstGeom prst="rect">
            <a:avLst/>
          </a:prstGeom>
          <a:noFill/>
          <a:ln/>
        </p:spPr>
        <p:txBody>
          <a:bodyPr wrap="square" lIns="0" tIns="0" rIns="0" bIns="0" rtlCol="0" anchor="t"/>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Betelgeuse</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~550 ly</a:t>
            </a:r>
            <a:endParaRPr lang="en-US" sz="1250" dirty="0"/>
          </a:p>
          <a:p>
            <a:pPr algn="ctr" indent="0" marL="0">
              <a:lnSpc>
                <a:spcPts val="1500"/>
              </a:lnSpc>
              <a:buNone/>
            </a:pPr>
            <a:r>
              <a:rPr lang="en-US" sz="1050" b="1" dirty="0">
                <a:solidFill>
                  <a:srgbClr val="9AA7FF"/>
                </a:solidFill>
                <a:latin typeface="Consolas" pitchFamily="34" charset="0"/>
                <a:ea typeface="Consolas" pitchFamily="34" charset="-122"/>
                <a:cs typeface="Consolas" pitchFamily="34" charset="-120"/>
              </a:rPr>
              <a:t>~500s</a:t>
            </a:r>
            <a:endParaRPr lang="en-US" sz="1250" dirty="0"/>
          </a:p>
        </p:txBody>
      </p:sp>
      <p:sp>
        <p:nvSpPr>
          <p:cNvPr id="24" name="Shape 22"/>
          <p:cNvSpPr/>
          <p:nvPr/>
        </p:nvSpPr>
        <p:spPr>
          <a:xfrm>
            <a:off x="9565930" y="2971800"/>
            <a:ext cx="0" cy="457200"/>
          </a:xfrm>
          <a:prstGeom prst="line">
            <a:avLst/>
          </a:prstGeom>
          <a:noFill/>
          <a:ln w="12700">
            <a:solidFill>
              <a:srgbClr val="24314A"/>
            </a:solidFill>
            <a:prstDash val="solid"/>
          </a:ln>
        </p:spPr>
      </p:sp>
      <p:sp>
        <p:nvSpPr>
          <p:cNvPr id="25" name="Shape 23"/>
          <p:cNvSpPr/>
          <p:nvPr/>
        </p:nvSpPr>
        <p:spPr>
          <a:xfrm>
            <a:off x="9483634" y="3346704"/>
            <a:ext cx="164592" cy="164592"/>
          </a:xfrm>
          <a:prstGeom prst="ellipse">
            <a:avLst/>
          </a:prstGeom>
          <a:solidFill>
            <a:srgbClr val="FFD27D"/>
          </a:solidFill>
          <a:ln w="19050">
            <a:solidFill>
              <a:srgbClr val="030509"/>
            </a:solidFill>
            <a:prstDash val="solid"/>
          </a:ln>
        </p:spPr>
      </p:sp>
      <p:sp>
        <p:nvSpPr>
          <p:cNvPr id="26" name="Text 24"/>
          <p:cNvSpPr/>
          <p:nvPr/>
        </p:nvSpPr>
        <p:spPr>
          <a:xfrm>
            <a:off x="8857270" y="2057400"/>
            <a:ext cx="1417320" cy="914400"/>
          </a:xfrm>
          <a:prstGeom prst="rect">
            <a:avLst/>
          </a:prstGeom>
          <a:noFill/>
          <a:ln/>
        </p:spPr>
        <p:txBody>
          <a:bodyPr wrap="square" lIns="0" tIns="0" rIns="0" bIns="0" rtlCol="0" anchor="b"/>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Orion Nebula</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1,344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1377 AD</a:t>
            </a:r>
            <a:endParaRPr lang="en-US" sz="1250" dirty="0"/>
          </a:p>
        </p:txBody>
      </p:sp>
      <p:sp>
        <p:nvSpPr>
          <p:cNvPr id="27" name="Shape 25"/>
          <p:cNvSpPr/>
          <p:nvPr/>
        </p:nvSpPr>
        <p:spPr>
          <a:xfrm>
            <a:off x="10954512" y="3429000"/>
            <a:ext cx="0" cy="457200"/>
          </a:xfrm>
          <a:prstGeom prst="line">
            <a:avLst/>
          </a:prstGeom>
          <a:noFill/>
          <a:ln w="12700">
            <a:solidFill>
              <a:srgbClr val="24314A"/>
            </a:solidFill>
            <a:prstDash val="solid"/>
          </a:ln>
        </p:spPr>
      </p:sp>
      <p:sp>
        <p:nvSpPr>
          <p:cNvPr id="28" name="Shape 26"/>
          <p:cNvSpPr/>
          <p:nvPr/>
        </p:nvSpPr>
        <p:spPr>
          <a:xfrm>
            <a:off x="10872216" y="3346704"/>
            <a:ext cx="164592" cy="164592"/>
          </a:xfrm>
          <a:prstGeom prst="ellipse">
            <a:avLst/>
          </a:prstGeom>
          <a:solidFill>
            <a:srgbClr val="FFD27D"/>
          </a:solidFill>
          <a:ln w="19050">
            <a:solidFill>
              <a:srgbClr val="030509"/>
            </a:solidFill>
            <a:prstDash val="solid"/>
          </a:ln>
        </p:spPr>
      </p:sp>
      <p:sp>
        <p:nvSpPr>
          <p:cNvPr id="29" name="Text 27"/>
          <p:cNvSpPr/>
          <p:nvPr/>
        </p:nvSpPr>
        <p:spPr>
          <a:xfrm>
            <a:off x="10245852" y="3931920"/>
            <a:ext cx="1417320" cy="914400"/>
          </a:xfrm>
          <a:prstGeom prst="rect">
            <a:avLst/>
          </a:prstGeom>
          <a:noFill/>
          <a:ln/>
        </p:spPr>
        <p:txBody>
          <a:bodyPr wrap="square" lIns="0" tIns="0" rIns="0" bIns="0" rtlCol="0" anchor="t"/>
          <a:lstStyle/>
          <a:p>
            <a:pPr algn="ctr" indent="0" marL="0">
              <a:lnSpc>
                <a:spcPts val="1500"/>
              </a:lnSpc>
              <a:buNone/>
            </a:pPr>
            <a:r>
              <a:rPr lang="en-US" sz="1250" b="1" dirty="0">
                <a:solidFill>
                  <a:srgbClr val="DFF1FF"/>
                </a:solidFill>
                <a:latin typeface="Georgia" pitchFamily="34" charset="0"/>
                <a:ea typeface="Georgia" pitchFamily="34" charset="-122"/>
                <a:cs typeface="Georgia" pitchFamily="34" charset="-120"/>
              </a:rPr>
              <a:t>Nearest black hole</a:t>
            </a:r>
            <a:endParaRPr lang="en-US" sz="1250" dirty="0"/>
          </a:p>
          <a:p>
            <a:pPr algn="ctr" indent="0" marL="0">
              <a:lnSpc>
                <a:spcPts val="1500"/>
              </a:lnSpc>
              <a:buNone/>
            </a:pPr>
            <a:r>
              <a:rPr lang="en-US" sz="1000" dirty="0">
                <a:solidFill>
                  <a:srgbClr val="C9D6E8"/>
                </a:solidFill>
                <a:latin typeface="Consolas" pitchFamily="34" charset="0"/>
                <a:ea typeface="Consolas" pitchFamily="34" charset="-122"/>
                <a:cs typeface="Consolas" pitchFamily="34" charset="-120"/>
              </a:rPr>
              <a:t>1,926 ly</a:t>
            </a:r>
            <a:endParaRPr lang="en-US" sz="1250" dirty="0"/>
          </a:p>
          <a:p>
            <a:pPr algn="ctr" indent="0" marL="0">
              <a:lnSpc>
                <a:spcPts val="1500"/>
              </a:lnSpc>
              <a:buNone/>
            </a:pPr>
            <a:r>
              <a:rPr lang="en-US" sz="1050" b="1" dirty="0">
                <a:solidFill>
                  <a:srgbClr val="FFD27D"/>
                </a:solidFill>
                <a:latin typeface="Consolas" pitchFamily="34" charset="0"/>
                <a:ea typeface="Consolas" pitchFamily="34" charset="-122"/>
                <a:cs typeface="Consolas" pitchFamily="34" charset="-120"/>
              </a:rPr>
              <a:t>~1959 AD</a:t>
            </a:r>
            <a:endParaRPr lang="en-US" sz="1250" dirty="0"/>
          </a:p>
        </p:txBody>
      </p:sp>
      <p:sp>
        <p:nvSpPr>
          <p:cNvPr id="30" name="Text 28"/>
          <p:cNvSpPr/>
          <p:nvPr/>
        </p:nvSpPr>
        <p:spPr>
          <a:xfrm>
            <a:off x="640080" y="5349240"/>
            <a:ext cx="7498080" cy="822960"/>
          </a:xfrm>
          <a:prstGeom prst="rect">
            <a:avLst/>
          </a:prstGeom>
          <a:noFill/>
          <a:ln/>
        </p:spPr>
        <p:txBody>
          <a:bodyPr wrap="square" lIns="0" tIns="0" rIns="0" bIns="0" rtlCol="0" anchor="ctr"/>
          <a:lstStyle/>
          <a:p>
            <a:pPr algn="l" indent="0" marL="0">
              <a:lnSpc>
                <a:spcPts val="1800"/>
              </a:lnSpc>
              <a:buNone/>
            </a:pPr>
            <a:r>
              <a:rPr lang="en-US" sz="1200" dirty="0">
                <a:solidFill>
                  <a:srgbClr val="7E8CA3"/>
                </a:solidFill>
                <a:latin typeface="Calibri" pitchFamily="34" charset="0"/>
                <a:ea typeface="Calibri" pitchFamily="34" charset="-122"/>
                <a:cs typeface="Calibri" pitchFamily="34" charset="-120"/>
              </a:rPr>
              <a:t>Nearest known black hole = Gaia BH3, 33 times the Sun's mass. Distances to a few stars like Betelgeuse are genuinely uncertain and shown as approximate.</a:t>
            </a:r>
            <a:endParaRPr lang="en-US" sz="1200" dirty="0"/>
          </a:p>
        </p:txBody>
      </p:sp>
      <p:sp>
        <p:nvSpPr>
          <p:cNvPr id="31" name="Shape 29"/>
          <p:cNvSpPr/>
          <p:nvPr/>
        </p:nvSpPr>
        <p:spPr>
          <a:xfrm>
            <a:off x="8549640" y="5394960"/>
            <a:ext cx="146304" cy="146304"/>
          </a:xfrm>
          <a:prstGeom prst="ellipse">
            <a:avLst/>
          </a:prstGeom>
          <a:solidFill>
            <a:srgbClr val="FFD27D"/>
          </a:solidFill>
          <a:ln/>
        </p:spPr>
      </p:sp>
      <p:sp>
        <p:nvSpPr>
          <p:cNvPr id="32" name="Text 30"/>
          <p:cNvSpPr/>
          <p:nvPr/>
        </p:nvSpPr>
        <p:spPr>
          <a:xfrm>
            <a:off x="8759952" y="5321808"/>
            <a:ext cx="2651760" cy="274320"/>
          </a:xfrm>
          <a:prstGeom prst="rect">
            <a:avLst/>
          </a:prstGeom>
          <a:noFill/>
          <a:ln/>
        </p:spPr>
        <p:txBody>
          <a:bodyPr wrap="square" lIns="0" tIns="0" rIns="0" bIns="0" rtlCol="0" anchor="ctr"/>
          <a:lstStyle/>
          <a:p>
            <a:pPr indent="0" marL="0">
              <a:buNone/>
            </a:pPr>
            <a:r>
              <a:rPr lang="en-US" sz="1000" dirty="0">
                <a:solidFill>
                  <a:srgbClr val="C9D6E8"/>
                </a:solidFill>
                <a:latin typeface="Consolas" pitchFamily="34" charset="0"/>
                <a:ea typeface="Consolas" pitchFamily="34" charset="-122"/>
                <a:cs typeface="Consolas" pitchFamily="34" charset="-120"/>
              </a:rPr>
              <a:t>known distance</a:t>
            </a:r>
            <a:endParaRPr lang="en-US" sz="1000" dirty="0"/>
          </a:p>
        </p:txBody>
      </p:sp>
      <p:sp>
        <p:nvSpPr>
          <p:cNvPr id="33" name="Shape 31"/>
          <p:cNvSpPr/>
          <p:nvPr/>
        </p:nvSpPr>
        <p:spPr>
          <a:xfrm>
            <a:off x="8549640" y="5715000"/>
            <a:ext cx="146304" cy="146304"/>
          </a:xfrm>
          <a:prstGeom prst="ellipse">
            <a:avLst/>
          </a:prstGeom>
          <a:solidFill>
            <a:srgbClr val="9AA7FF"/>
          </a:solidFill>
          <a:ln/>
        </p:spPr>
      </p:sp>
      <p:sp>
        <p:nvSpPr>
          <p:cNvPr id="34" name="Text 32"/>
          <p:cNvSpPr/>
          <p:nvPr/>
        </p:nvSpPr>
        <p:spPr>
          <a:xfrm>
            <a:off x="8759952" y="5641848"/>
            <a:ext cx="2651760" cy="274320"/>
          </a:xfrm>
          <a:prstGeom prst="rect">
            <a:avLst/>
          </a:prstGeom>
          <a:noFill/>
          <a:ln/>
        </p:spPr>
        <p:txBody>
          <a:bodyPr wrap="square" lIns="0" tIns="0" rIns="0" bIns="0" rtlCol="0" anchor="ctr"/>
          <a:lstStyle/>
          <a:p>
            <a:pPr indent="0" marL="0">
              <a:buNone/>
            </a:pPr>
            <a:r>
              <a:rPr lang="en-US" sz="1000" dirty="0">
                <a:solidFill>
                  <a:srgbClr val="C9D6E8"/>
                </a:solidFill>
                <a:latin typeface="Consolas" pitchFamily="34" charset="0"/>
                <a:ea typeface="Consolas" pitchFamily="34" charset="-122"/>
                <a:cs typeface="Consolas" pitchFamily="34" charset="-120"/>
              </a:rPr>
              <a:t>uncertain distance</a:t>
            </a:r>
            <a:endParaRPr lang="en-US" sz="1000" dirty="0"/>
          </a:p>
        </p:txBody>
      </p:sp>
      <p:sp>
        <p:nvSpPr>
          <p:cNvPr id="35" name="Shape 33"/>
          <p:cNvSpPr/>
          <p:nvPr/>
        </p:nvSpPr>
        <p:spPr>
          <a:xfrm>
            <a:off x="640080" y="6419088"/>
            <a:ext cx="10908792" cy="0"/>
          </a:xfrm>
          <a:prstGeom prst="line">
            <a:avLst/>
          </a:prstGeom>
          <a:noFill/>
          <a:ln w="12700">
            <a:solidFill>
              <a:srgbClr val="24314A"/>
            </a:solidFill>
            <a:prstDash val="solid"/>
          </a:ln>
        </p:spPr>
      </p:sp>
      <p:sp>
        <p:nvSpPr>
          <p:cNvPr id="36" name="Text 34"/>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37" name="Text 35"/>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38" name="Text 36"/>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0509"/>
        </a:solidFill>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QUESTION 2  ·  CAN ANYONE READ IT?</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The catch: the picture fades as the bubble grows</a:t>
            </a:r>
            <a:endParaRPr lang="en-US" sz="3400" dirty="0"/>
          </a:p>
        </p:txBody>
      </p:sp>
      <p:sp>
        <p:nvSpPr>
          <p:cNvPr id="4" name="Text 2"/>
          <p:cNvSpPr/>
          <p:nvPr/>
        </p:nvSpPr>
        <p:spPr>
          <a:xfrm>
            <a:off x="640080" y="1737360"/>
            <a:ext cx="5486400" cy="1737360"/>
          </a:xfrm>
          <a:prstGeom prst="rect">
            <a:avLst/>
          </a:prstGeom>
          <a:noFill/>
          <a:ln/>
        </p:spPr>
        <p:txBody>
          <a:bodyPr wrap="square" lIns="0" tIns="0" rIns="0" bIns="0" rtlCol="0" anchor="ctr"/>
          <a:lstStyle/>
          <a:p>
            <a:pPr algn="l" indent="0" marL="0">
              <a:lnSpc>
                <a:spcPts val="2600"/>
              </a:lnSpc>
              <a:buNone/>
            </a:pPr>
            <a:r>
              <a:rPr lang="en-US" sz="1600" dirty="0">
                <a:solidFill>
                  <a:srgbClr val="C9D6E8"/>
                </a:solidFill>
                <a:latin typeface="Calibri" pitchFamily="34" charset="0"/>
                <a:ea typeface="Calibri" pitchFamily="34" charset="-122"/>
                <a:cs typeface="Calibri" pitchFamily="34" charset="-120"/>
              </a:rPr>
              <a:t>The light is not destroyed, but it spreads thinner and thinner as the bubble expands. Double the distance and the brightness drops to a quarter. By the time it reaches the edge today, it is almost unimaginably faint.</a:t>
            </a:r>
            <a:endParaRPr lang="en-US" sz="1600" dirty="0"/>
          </a:p>
        </p:txBody>
      </p:sp>
      <p:sp>
        <p:nvSpPr>
          <p:cNvPr id="5" name="Shape 3"/>
          <p:cNvSpPr/>
          <p:nvPr/>
        </p:nvSpPr>
        <p:spPr>
          <a:xfrm>
            <a:off x="640080" y="3611880"/>
            <a:ext cx="5486400" cy="23317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640080" y="3611880"/>
            <a:ext cx="73152" cy="2331720"/>
          </a:xfrm>
          <a:prstGeom prst="rect">
            <a:avLst/>
          </a:prstGeom>
          <a:solidFill>
            <a:srgbClr val="FFD27D"/>
          </a:solidFill>
          <a:ln/>
        </p:spPr>
      </p:sp>
      <p:pic>
        <p:nvPicPr>
          <p:cNvPr id="7" name="Image 0" descr="preencoded.png">    </p:cNvPr>
          <p:cNvPicPr>
            <a:picLocks noChangeAspect="1"/>
          </p:cNvPicPr>
          <p:nvPr/>
        </p:nvPicPr>
        <p:blipFill>
          <a:blip r:embed="rId1"/>
          <a:stretch>
            <a:fillRect/>
          </a:stretch>
        </p:blipFill>
        <p:spPr>
          <a:xfrm>
            <a:off x="960120" y="3886200"/>
            <a:ext cx="502920" cy="502920"/>
          </a:xfrm>
          <a:prstGeom prst="rect">
            <a:avLst/>
          </a:prstGeom>
        </p:spPr>
      </p:pic>
      <p:sp>
        <p:nvSpPr>
          <p:cNvPr id="8" name="Text 5"/>
          <p:cNvSpPr/>
          <p:nvPr/>
        </p:nvSpPr>
        <p:spPr>
          <a:xfrm>
            <a:off x="1645920" y="3913632"/>
            <a:ext cx="4297680" cy="365760"/>
          </a:xfrm>
          <a:prstGeom prst="rect">
            <a:avLst/>
          </a:prstGeom>
          <a:noFill/>
          <a:ln/>
        </p:spPr>
        <p:txBody>
          <a:bodyPr wrap="square" lIns="0" tIns="0" rIns="0" bIns="0" rtlCol="0" anchor="ctr"/>
          <a:lstStyle/>
          <a:p>
            <a:pPr indent="0" marL="0">
              <a:buNone/>
            </a:pPr>
            <a:r>
              <a:rPr lang="en-US" sz="1200" spc="200" kern="0" dirty="0">
                <a:solidFill>
                  <a:srgbClr val="7E8CA3"/>
                </a:solidFill>
                <a:latin typeface="Consolas" pitchFamily="34" charset="0"/>
                <a:ea typeface="Consolas" pitchFamily="34" charset="-122"/>
                <a:cs typeface="Consolas" pitchFamily="34" charset="-120"/>
              </a:rPr>
              <a:t>HOW FAINT, EXACTLY?</a:t>
            </a:r>
            <a:endParaRPr lang="en-US" sz="1200" dirty="0"/>
          </a:p>
        </p:txBody>
      </p:sp>
      <p:sp>
        <p:nvSpPr>
          <p:cNvPr id="9" name="Text 6"/>
          <p:cNvSpPr/>
          <p:nvPr/>
        </p:nvSpPr>
        <p:spPr>
          <a:xfrm>
            <a:off x="960120" y="4434840"/>
            <a:ext cx="4937760" cy="822960"/>
          </a:xfrm>
          <a:prstGeom prst="rect">
            <a:avLst/>
          </a:prstGeom>
          <a:noFill/>
          <a:ln/>
        </p:spPr>
        <p:txBody>
          <a:bodyPr wrap="square" lIns="0" tIns="0" rIns="0" bIns="0" rtlCol="0" anchor="ctr"/>
          <a:lstStyle/>
          <a:p>
            <a:pPr algn="l" indent="0" marL="0">
              <a:buNone/>
            </a:pPr>
            <a:r>
              <a:rPr lang="en-US" sz="5400" b="1" dirty="0">
                <a:solidFill>
                  <a:srgbClr val="FFD27D"/>
                </a:solidFill>
                <a:latin typeface="Georgia" pitchFamily="34" charset="0"/>
                <a:ea typeface="Georgia" pitchFamily="34" charset="-122"/>
                <a:cs typeface="Georgia" pitchFamily="34" charset="-120"/>
              </a:rPr>
              <a:t>2.8</a:t>
            </a:r>
            <a:pPr algn="l" indent="0" marL="0">
              <a:buNone/>
            </a:pPr>
            <a:r>
              <a:rPr lang="en-US" sz="2200" b="1" dirty="0">
                <a:solidFill>
                  <a:srgbClr val="DFF1FF"/>
                </a:solidFill>
                <a:latin typeface="Georgia" pitchFamily="34" charset="0"/>
                <a:ea typeface="Georgia" pitchFamily="34" charset="-122"/>
                <a:cs typeface="Georgia" pitchFamily="34" charset="-120"/>
              </a:rPr>
              <a:t>  photons</a:t>
            </a:r>
            <a:endParaRPr lang="en-US" sz="5400" dirty="0"/>
          </a:p>
        </p:txBody>
      </p:sp>
      <p:sp>
        <p:nvSpPr>
          <p:cNvPr id="10" name="Text 7"/>
          <p:cNvSpPr/>
          <p:nvPr/>
        </p:nvSpPr>
        <p:spPr>
          <a:xfrm>
            <a:off x="960120" y="5257800"/>
            <a:ext cx="4937760" cy="594360"/>
          </a:xfrm>
          <a:prstGeom prst="rect">
            <a:avLst/>
          </a:prstGeom>
          <a:noFill/>
          <a:ln/>
        </p:spPr>
        <p:txBody>
          <a:bodyPr wrap="square" lIns="0" tIns="0" rIns="0" bIns="0" rtlCol="0" anchor="ctr"/>
          <a:lstStyle/>
          <a:p>
            <a:pPr algn="l" indent="0" marL="0">
              <a:lnSpc>
                <a:spcPts val="1800"/>
              </a:lnSpc>
              <a:buNone/>
            </a:pPr>
            <a:r>
              <a:rPr lang="en-US" sz="1250" dirty="0">
                <a:solidFill>
                  <a:srgbClr val="C9D6E8"/>
                </a:solidFill>
                <a:latin typeface="Calibri" pitchFamily="34" charset="0"/>
                <a:ea typeface="Calibri" pitchFamily="34" charset="-122"/>
                <a:cs typeface="Calibri" pitchFamily="34" charset="-120"/>
              </a:rPr>
              <a:t>particles of Earth-light land on a one-square-meter patch at the edge, per day. A big 10-meter telescope there would catch roughly 220 of our photons in a whole day.</a:t>
            </a:r>
            <a:endParaRPr lang="en-US" sz="1250" dirty="0"/>
          </a:p>
        </p:txBody>
      </p:sp>
      <p:sp>
        <p:nvSpPr>
          <p:cNvPr id="11" name="Shape 8"/>
          <p:cNvSpPr/>
          <p:nvPr/>
        </p:nvSpPr>
        <p:spPr>
          <a:xfrm>
            <a:off x="6446520" y="1737360"/>
            <a:ext cx="5102352" cy="4206240"/>
          </a:xfrm>
          <a:prstGeom prst="rect">
            <a:avLst/>
          </a:prstGeom>
          <a:solidFill>
            <a:srgbClr val="0B1220"/>
          </a:solidFill>
          <a:ln w="12700">
            <a:solidFill>
              <a:srgbClr val="24314A"/>
            </a:solidFill>
            <a:prstDash val="solid"/>
          </a:ln>
        </p:spPr>
      </p:sp>
      <p:sp>
        <p:nvSpPr>
          <p:cNvPr id="12" name="Text 9"/>
          <p:cNvSpPr/>
          <p:nvPr/>
        </p:nvSpPr>
        <p:spPr>
          <a:xfrm>
            <a:off x="6766560" y="1965960"/>
            <a:ext cx="4572000" cy="365760"/>
          </a:xfrm>
          <a:prstGeom prst="rect">
            <a:avLst/>
          </a:prstGeom>
          <a:noFill/>
          <a:ln/>
        </p:spPr>
        <p:txBody>
          <a:bodyPr wrap="square" lIns="0" tIns="0" rIns="0" bIns="0" rtlCol="0" anchor="ctr"/>
          <a:lstStyle/>
          <a:p>
            <a:pPr indent="0" marL="0">
              <a:buNone/>
            </a:pPr>
            <a:r>
              <a:rPr lang="en-US" sz="1200" b="1" spc="200" kern="0" dirty="0">
                <a:solidFill>
                  <a:srgbClr val="FFD27D"/>
                </a:solidFill>
                <a:latin typeface="Consolas" pitchFamily="34" charset="0"/>
                <a:ea typeface="Consolas" pitchFamily="34" charset="-122"/>
                <a:cs typeface="Consolas" pitchFamily="34" charset="-120"/>
              </a:rPr>
              <a:t>A SENSE OF SCALE</a:t>
            </a:r>
            <a:endParaRPr lang="en-US" sz="1200" dirty="0"/>
          </a:p>
        </p:txBody>
      </p:sp>
      <p:sp>
        <p:nvSpPr>
          <p:cNvPr id="13" name="Text 10"/>
          <p:cNvSpPr/>
          <p:nvPr/>
        </p:nvSpPr>
        <p:spPr>
          <a:xfrm>
            <a:off x="6766560" y="2468880"/>
            <a:ext cx="4480560" cy="320040"/>
          </a:xfrm>
          <a:prstGeom prst="rect">
            <a:avLst/>
          </a:prstGeom>
          <a:noFill/>
          <a:ln/>
        </p:spPr>
        <p:txBody>
          <a:bodyPr wrap="square" lIns="0" tIns="0" rIns="0" bIns="0" rtlCol="0" anchor="ctr"/>
          <a:lstStyle/>
          <a:p>
            <a:pPr indent="0" marL="0">
              <a:buNone/>
            </a:pPr>
            <a:r>
              <a:rPr lang="en-US" sz="1550" b="1" dirty="0">
                <a:solidFill>
                  <a:srgbClr val="DFF1FF"/>
                </a:solidFill>
                <a:latin typeface="Georgia" pitchFamily="34" charset="0"/>
                <a:ea typeface="Georgia" pitchFamily="34" charset="-122"/>
                <a:cs typeface="Georgia" pitchFamily="34" charset="-120"/>
              </a:rPr>
              <a:t>Earth vs. the Sun</a:t>
            </a:r>
            <a:endParaRPr lang="en-US" sz="1550" dirty="0"/>
          </a:p>
        </p:txBody>
      </p:sp>
      <p:sp>
        <p:nvSpPr>
          <p:cNvPr id="14" name="Text 11"/>
          <p:cNvSpPr/>
          <p:nvPr/>
        </p:nvSpPr>
        <p:spPr>
          <a:xfrm>
            <a:off x="6766560" y="2816352"/>
            <a:ext cx="4480560" cy="777240"/>
          </a:xfrm>
          <a:prstGeom prst="rect">
            <a:avLst/>
          </a:prstGeom>
          <a:noFill/>
          <a:ln/>
        </p:spPr>
        <p:txBody>
          <a:bodyPr wrap="square" lIns="0" tIns="0" rIns="0" bIns="0" rtlCol="0" anchor="ctr"/>
          <a:lstStyle/>
          <a:p>
            <a:pPr indent="0" marL="0">
              <a:lnSpc>
                <a:spcPts val="1900"/>
              </a:lnSpc>
              <a:buNone/>
            </a:pPr>
            <a:r>
              <a:rPr lang="en-US" sz="1300" dirty="0">
                <a:solidFill>
                  <a:srgbClr val="C9D6E8"/>
                </a:solidFill>
                <a:latin typeface="Calibri" pitchFamily="34" charset="0"/>
                <a:ea typeface="Calibri" pitchFamily="34" charset="-122"/>
                <a:cs typeface="Calibri" pitchFamily="34" charset="-120"/>
              </a:rPr>
              <a:t>Our whole planet shines about 7 billion times fainter than the Sun sitting right next to it.</a:t>
            </a:r>
            <a:endParaRPr lang="en-US" sz="1300" dirty="0"/>
          </a:p>
        </p:txBody>
      </p:sp>
      <p:sp>
        <p:nvSpPr>
          <p:cNvPr id="15" name="Shape 12"/>
          <p:cNvSpPr/>
          <p:nvPr/>
        </p:nvSpPr>
        <p:spPr>
          <a:xfrm>
            <a:off x="6766560" y="3602736"/>
            <a:ext cx="4480560" cy="0"/>
          </a:xfrm>
          <a:prstGeom prst="line">
            <a:avLst/>
          </a:prstGeom>
          <a:noFill/>
          <a:ln w="12700">
            <a:solidFill>
              <a:srgbClr val="24314A"/>
            </a:solidFill>
            <a:prstDash val="solid"/>
          </a:ln>
        </p:spPr>
      </p:sp>
      <p:sp>
        <p:nvSpPr>
          <p:cNvPr id="16" name="Text 13"/>
          <p:cNvSpPr/>
          <p:nvPr/>
        </p:nvSpPr>
        <p:spPr>
          <a:xfrm>
            <a:off x="6766560" y="3639312"/>
            <a:ext cx="4480560" cy="320040"/>
          </a:xfrm>
          <a:prstGeom prst="rect">
            <a:avLst/>
          </a:prstGeom>
          <a:noFill/>
          <a:ln/>
        </p:spPr>
        <p:txBody>
          <a:bodyPr wrap="square" lIns="0" tIns="0" rIns="0" bIns="0" rtlCol="0" anchor="ctr"/>
          <a:lstStyle/>
          <a:p>
            <a:pPr indent="0" marL="0">
              <a:buNone/>
            </a:pPr>
            <a:r>
              <a:rPr lang="en-US" sz="1550" b="1" dirty="0">
                <a:solidFill>
                  <a:srgbClr val="DFF1FF"/>
                </a:solidFill>
                <a:latin typeface="Georgia" pitchFamily="34" charset="0"/>
                <a:ea typeface="Georgia" pitchFamily="34" charset="-122"/>
                <a:cs typeface="Georgia" pitchFamily="34" charset="-120"/>
              </a:rPr>
              <a:t>Blocked light</a:t>
            </a:r>
            <a:endParaRPr lang="en-US" sz="1550" dirty="0"/>
          </a:p>
        </p:txBody>
      </p:sp>
      <p:sp>
        <p:nvSpPr>
          <p:cNvPr id="17" name="Text 14"/>
          <p:cNvSpPr/>
          <p:nvPr/>
        </p:nvSpPr>
        <p:spPr>
          <a:xfrm>
            <a:off x="6766560" y="3986784"/>
            <a:ext cx="4480560" cy="777240"/>
          </a:xfrm>
          <a:prstGeom prst="rect">
            <a:avLst/>
          </a:prstGeom>
          <a:noFill/>
          <a:ln/>
        </p:spPr>
        <p:txBody>
          <a:bodyPr wrap="square" lIns="0" tIns="0" rIns="0" bIns="0" rtlCol="0" anchor="ctr"/>
          <a:lstStyle/>
          <a:p>
            <a:pPr indent="0" marL="0">
              <a:lnSpc>
                <a:spcPts val="1900"/>
              </a:lnSpc>
              <a:buNone/>
            </a:pPr>
            <a:r>
              <a:rPr lang="en-US" sz="1300" dirty="0">
                <a:solidFill>
                  <a:srgbClr val="C9D6E8"/>
                </a:solidFill>
                <a:latin typeface="Calibri" pitchFamily="34" charset="0"/>
                <a:ea typeface="Calibri" pitchFamily="34" charset="-122"/>
                <a:cs typeface="Calibri" pitchFamily="34" charset="-120"/>
              </a:rPr>
              <a:t>Dust in the galaxy quietly absorbs a third to nearly half of the photons on the way out.</a:t>
            </a:r>
            <a:endParaRPr lang="en-US" sz="1300" dirty="0"/>
          </a:p>
        </p:txBody>
      </p:sp>
      <p:sp>
        <p:nvSpPr>
          <p:cNvPr id="18" name="Shape 15"/>
          <p:cNvSpPr/>
          <p:nvPr/>
        </p:nvSpPr>
        <p:spPr>
          <a:xfrm>
            <a:off x="6766560" y="4773168"/>
            <a:ext cx="4480560" cy="0"/>
          </a:xfrm>
          <a:prstGeom prst="line">
            <a:avLst/>
          </a:prstGeom>
          <a:noFill/>
          <a:ln w="12700">
            <a:solidFill>
              <a:srgbClr val="24314A"/>
            </a:solidFill>
            <a:prstDash val="solid"/>
          </a:ln>
        </p:spPr>
      </p:sp>
      <p:sp>
        <p:nvSpPr>
          <p:cNvPr id="19" name="Text 16"/>
          <p:cNvSpPr/>
          <p:nvPr/>
        </p:nvSpPr>
        <p:spPr>
          <a:xfrm>
            <a:off x="6766560" y="4809744"/>
            <a:ext cx="4480560" cy="320040"/>
          </a:xfrm>
          <a:prstGeom prst="rect">
            <a:avLst/>
          </a:prstGeom>
          <a:noFill/>
          <a:ln/>
        </p:spPr>
        <p:txBody>
          <a:bodyPr wrap="square" lIns="0" tIns="0" rIns="0" bIns="0" rtlCol="0" anchor="ctr"/>
          <a:lstStyle/>
          <a:p>
            <a:pPr indent="0" marL="0">
              <a:buNone/>
            </a:pPr>
            <a:r>
              <a:rPr lang="en-US" sz="1550" b="1" dirty="0">
                <a:solidFill>
                  <a:srgbClr val="DFF1FF"/>
                </a:solidFill>
                <a:latin typeface="Georgia" pitchFamily="34" charset="0"/>
                <a:ea typeface="Georgia" pitchFamily="34" charset="-122"/>
                <a:cs typeface="Georgia" pitchFamily="34" charset="-120"/>
              </a:rPr>
              <a:t>The real limit</a:t>
            </a:r>
            <a:endParaRPr lang="en-US" sz="1550" dirty="0"/>
          </a:p>
        </p:txBody>
      </p:sp>
      <p:sp>
        <p:nvSpPr>
          <p:cNvPr id="20" name="Text 17"/>
          <p:cNvSpPr/>
          <p:nvPr/>
        </p:nvSpPr>
        <p:spPr>
          <a:xfrm>
            <a:off x="6766560" y="5157216"/>
            <a:ext cx="4480560" cy="777240"/>
          </a:xfrm>
          <a:prstGeom prst="rect">
            <a:avLst/>
          </a:prstGeom>
          <a:noFill/>
          <a:ln/>
        </p:spPr>
        <p:txBody>
          <a:bodyPr wrap="square" lIns="0" tIns="0" rIns="0" bIns="0" rtlCol="0" anchor="ctr"/>
          <a:lstStyle/>
          <a:p>
            <a:pPr indent="0" marL="0">
              <a:lnSpc>
                <a:spcPts val="1900"/>
              </a:lnSpc>
              <a:buNone/>
            </a:pPr>
            <a:r>
              <a:rPr lang="en-US" sz="1300" dirty="0">
                <a:solidFill>
                  <a:srgbClr val="C9D6E8"/>
                </a:solidFill>
                <a:latin typeface="Calibri" pitchFamily="34" charset="0"/>
                <a:ea typeface="Calibri" pitchFamily="34" charset="-122"/>
                <a:cs typeface="Calibri" pitchFamily="34" charset="-120"/>
              </a:rPr>
              <a:t>The problem is never the size of the telescope. It is that there are almost no photons left to catch.</a:t>
            </a:r>
            <a:endParaRPr lang="en-US" sz="1300" dirty="0"/>
          </a:p>
        </p:txBody>
      </p:sp>
      <p:sp>
        <p:nvSpPr>
          <p:cNvPr id="21" name="Shape 18"/>
          <p:cNvSpPr/>
          <p:nvPr/>
        </p:nvSpPr>
        <p:spPr>
          <a:xfrm>
            <a:off x="640080" y="6419088"/>
            <a:ext cx="10908792" cy="0"/>
          </a:xfrm>
          <a:prstGeom prst="line">
            <a:avLst/>
          </a:prstGeom>
          <a:noFill/>
          <a:ln w="12700">
            <a:solidFill>
              <a:srgbClr val="24314A"/>
            </a:solidFill>
            <a:prstDash val="solid"/>
          </a:ln>
        </p:spPr>
      </p:sp>
      <p:sp>
        <p:nvSpPr>
          <p:cNvPr id="22" name="Text 19"/>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23" name="Text 20"/>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24" name="Text 21"/>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THE VERDICT, IN THREE LEVELS</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What an alien could still figure out about us</a:t>
            </a:r>
            <a:endParaRPr lang="en-US" sz="3400" dirty="0"/>
          </a:p>
        </p:txBody>
      </p:sp>
      <p:sp>
        <p:nvSpPr>
          <p:cNvPr id="4" name="Shape 2"/>
          <p:cNvSpPr/>
          <p:nvPr/>
        </p:nvSpPr>
        <p:spPr>
          <a:xfrm>
            <a:off x="495148" y="1920240"/>
            <a:ext cx="3520440" cy="39319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495148" y="1920240"/>
            <a:ext cx="3520440" cy="82296"/>
          </a:xfrm>
          <a:prstGeom prst="rect">
            <a:avLst/>
          </a:prstGeom>
          <a:solidFill>
            <a:srgbClr val="6FE0A6"/>
          </a:solidFill>
          <a:ln/>
        </p:spPr>
      </p:sp>
      <p:sp>
        <p:nvSpPr>
          <p:cNvPr id="6" name="Shape 4"/>
          <p:cNvSpPr/>
          <p:nvPr/>
        </p:nvSpPr>
        <p:spPr>
          <a:xfrm>
            <a:off x="815188" y="2304288"/>
            <a:ext cx="777240" cy="777240"/>
          </a:xfrm>
          <a:prstGeom prst="ellipse">
            <a:avLst/>
          </a:prstGeom>
          <a:solidFill>
            <a:srgbClr val="0B1220"/>
          </a:solidFill>
          <a:ln w="19050">
            <a:solidFill>
              <a:srgbClr val="6FE0A6"/>
            </a:solidFill>
            <a:prstDash val="solid"/>
          </a:ln>
        </p:spPr>
      </p:sp>
      <p:pic>
        <p:nvPicPr>
          <p:cNvPr id="7" name="Image 0" descr="preencoded.png">    </p:cNvPr>
          <p:cNvPicPr>
            <a:picLocks noChangeAspect="1"/>
          </p:cNvPicPr>
          <p:nvPr/>
        </p:nvPicPr>
        <p:blipFill>
          <a:blip r:embed="rId2"/>
          <a:stretch>
            <a:fillRect/>
          </a:stretch>
        </p:blipFill>
        <p:spPr>
          <a:xfrm>
            <a:off x="1034644" y="2523744"/>
            <a:ext cx="338328" cy="338328"/>
          </a:xfrm>
          <a:prstGeom prst="rect">
            <a:avLst/>
          </a:prstGeom>
        </p:spPr>
      </p:pic>
      <p:sp>
        <p:nvSpPr>
          <p:cNvPr id="8" name="Text 5"/>
          <p:cNvSpPr/>
          <p:nvPr/>
        </p:nvSpPr>
        <p:spPr>
          <a:xfrm>
            <a:off x="1729588" y="2377440"/>
            <a:ext cx="2148840" cy="320040"/>
          </a:xfrm>
          <a:prstGeom prst="rect">
            <a:avLst/>
          </a:prstGeom>
          <a:noFill/>
          <a:ln/>
        </p:spPr>
        <p:txBody>
          <a:bodyPr wrap="square" lIns="0" tIns="0" rIns="0" bIns="0" rtlCol="0" anchor="ctr"/>
          <a:lstStyle/>
          <a:p>
            <a:pPr indent="0" marL="0">
              <a:buNone/>
            </a:pPr>
            <a:r>
              <a:rPr lang="en-US" sz="1200" b="1" spc="200" kern="0" dirty="0">
                <a:solidFill>
                  <a:srgbClr val="6FE0A6"/>
                </a:solidFill>
                <a:latin typeface="Consolas" pitchFamily="34" charset="0"/>
                <a:ea typeface="Consolas" pitchFamily="34" charset="-122"/>
                <a:cs typeface="Consolas" pitchFamily="34" charset="-120"/>
              </a:rPr>
              <a:t>SURVIVES</a:t>
            </a:r>
            <a:endParaRPr lang="en-US" sz="1200" dirty="0"/>
          </a:p>
        </p:txBody>
      </p:sp>
      <p:sp>
        <p:nvSpPr>
          <p:cNvPr id="9" name="Text 6"/>
          <p:cNvSpPr/>
          <p:nvPr/>
        </p:nvSpPr>
        <p:spPr>
          <a:xfrm>
            <a:off x="1729588" y="2670048"/>
            <a:ext cx="2103120" cy="502920"/>
          </a:xfrm>
          <a:prstGeom prst="rect">
            <a:avLst/>
          </a:prstGeom>
          <a:noFill/>
          <a:ln/>
        </p:spPr>
        <p:txBody>
          <a:bodyPr wrap="square" lIns="0" tIns="0" rIns="0" bIns="0" rtlCol="0" anchor="ctr"/>
          <a:lstStyle/>
          <a:p>
            <a:pPr indent="0" marL="0">
              <a:lnSpc>
                <a:spcPts val="1800"/>
              </a:lnSpc>
              <a:buNone/>
            </a:pPr>
            <a:r>
              <a:rPr lang="en-US" sz="1600" b="1" dirty="0">
                <a:solidFill>
                  <a:srgbClr val="DFF1FF"/>
                </a:solidFill>
                <a:latin typeface="Georgia" pitchFamily="34" charset="0"/>
                <a:ea typeface="Georgia" pitchFamily="34" charset="-122"/>
                <a:cs typeface="Georgia" pitchFamily="34" charset="-120"/>
              </a:rPr>
              <a:t>That Earth is alive</a:t>
            </a:r>
            <a:endParaRPr lang="en-US" sz="1600" dirty="0"/>
          </a:p>
        </p:txBody>
      </p:sp>
      <p:sp>
        <p:nvSpPr>
          <p:cNvPr id="10" name="Text 7"/>
          <p:cNvSpPr/>
          <p:nvPr/>
        </p:nvSpPr>
        <p:spPr>
          <a:xfrm>
            <a:off x="815188" y="3520440"/>
            <a:ext cx="2880360" cy="1737360"/>
          </a:xfrm>
          <a:prstGeom prst="rect">
            <a:avLst/>
          </a:prstGeom>
          <a:noFill/>
          <a:ln/>
        </p:spPr>
        <p:txBody>
          <a:bodyPr wrap="square" lIns="0" tIns="0" rIns="0" bIns="0" rtlCol="0" anchor="ctr"/>
          <a:lstStyle/>
          <a:p>
            <a:pPr indent="0" marL="0">
              <a:lnSpc>
                <a:spcPts val="2000"/>
              </a:lnSpc>
              <a:buNone/>
            </a:pPr>
            <a:r>
              <a:rPr lang="en-US" sz="1300" dirty="0">
                <a:solidFill>
                  <a:srgbClr val="C9D6E8"/>
                </a:solidFill>
                <a:latin typeface="Calibri" pitchFamily="34" charset="0"/>
                <a:ea typeface="Calibri" pitchFamily="34" charset="-122"/>
                <a:cs typeface="Calibri" pitchFamily="34" charset="-120"/>
              </a:rPr>
              <a:t>From the faint light alone, a patient observer could tell Earth is a wet, ocean-covered planet with plants, a 24-hour day and a 365-day year. Life itself is detectable.</a:t>
            </a:r>
            <a:endParaRPr lang="en-US" sz="1300" dirty="0"/>
          </a:p>
        </p:txBody>
      </p:sp>
      <p:sp>
        <p:nvSpPr>
          <p:cNvPr id="11" name="Shape 8"/>
          <p:cNvSpPr/>
          <p:nvPr/>
        </p:nvSpPr>
        <p:spPr>
          <a:xfrm>
            <a:off x="815188" y="5193792"/>
            <a:ext cx="2880360" cy="457200"/>
          </a:xfrm>
          <a:prstGeom prst="rect">
            <a:avLst/>
          </a:prstGeom>
          <a:solidFill>
            <a:srgbClr val="0B1220"/>
          </a:solidFill>
          <a:ln/>
        </p:spPr>
      </p:sp>
      <p:sp>
        <p:nvSpPr>
          <p:cNvPr id="12" name="Text 9"/>
          <p:cNvSpPr/>
          <p:nvPr/>
        </p:nvSpPr>
        <p:spPr>
          <a:xfrm>
            <a:off x="815188" y="5193792"/>
            <a:ext cx="2880360" cy="457200"/>
          </a:xfrm>
          <a:prstGeom prst="rect">
            <a:avLst/>
          </a:prstGeom>
          <a:noFill/>
          <a:ln/>
        </p:spPr>
        <p:txBody>
          <a:bodyPr wrap="square" lIns="0" tIns="0" rIns="0" bIns="0" rtlCol="0" anchor="ctr"/>
          <a:lstStyle/>
          <a:p>
            <a:pPr algn="ctr" indent="0" marL="0">
              <a:buNone/>
            </a:pPr>
            <a:r>
              <a:rPr lang="en-US" sz="1100" b="1" dirty="0">
                <a:solidFill>
                  <a:srgbClr val="6FE0A6"/>
                </a:solidFill>
                <a:latin typeface="Consolas" pitchFamily="34" charset="0"/>
                <a:ea typeface="Consolas" pitchFamily="34" charset="-122"/>
                <a:cs typeface="Consolas" pitchFamily="34" charset="-120"/>
              </a:rPr>
              <a:t>Recoverable in principle</a:t>
            </a:r>
            <a:endParaRPr lang="en-US" sz="1100" dirty="0"/>
          </a:p>
        </p:txBody>
      </p:sp>
      <p:sp>
        <p:nvSpPr>
          <p:cNvPr id="13" name="Shape 10"/>
          <p:cNvSpPr/>
          <p:nvPr/>
        </p:nvSpPr>
        <p:spPr>
          <a:xfrm>
            <a:off x="4335628" y="1920240"/>
            <a:ext cx="3520440" cy="39319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14" name="Shape 11"/>
          <p:cNvSpPr/>
          <p:nvPr/>
        </p:nvSpPr>
        <p:spPr>
          <a:xfrm>
            <a:off x="4335628" y="1920240"/>
            <a:ext cx="3520440" cy="82296"/>
          </a:xfrm>
          <a:prstGeom prst="rect">
            <a:avLst/>
          </a:prstGeom>
          <a:solidFill>
            <a:srgbClr val="FFD27D"/>
          </a:solidFill>
          <a:ln/>
        </p:spPr>
      </p:sp>
      <p:sp>
        <p:nvSpPr>
          <p:cNvPr id="15" name="Shape 12"/>
          <p:cNvSpPr/>
          <p:nvPr/>
        </p:nvSpPr>
        <p:spPr>
          <a:xfrm>
            <a:off x="4655668" y="2304288"/>
            <a:ext cx="777240" cy="777240"/>
          </a:xfrm>
          <a:prstGeom prst="ellipse">
            <a:avLst/>
          </a:prstGeom>
          <a:solidFill>
            <a:srgbClr val="0B1220"/>
          </a:solidFill>
          <a:ln w="19050">
            <a:solidFill>
              <a:srgbClr val="FFD27D"/>
            </a:solidFill>
            <a:prstDash val="solid"/>
          </a:ln>
        </p:spPr>
      </p:sp>
      <p:pic>
        <p:nvPicPr>
          <p:cNvPr id="16" name="Image 1" descr="preencoded.png">    </p:cNvPr>
          <p:cNvPicPr>
            <a:picLocks noChangeAspect="1"/>
          </p:cNvPicPr>
          <p:nvPr/>
        </p:nvPicPr>
        <p:blipFill>
          <a:blip r:embed="rId3"/>
          <a:stretch>
            <a:fillRect/>
          </a:stretch>
        </p:blipFill>
        <p:spPr>
          <a:xfrm>
            <a:off x="4875124" y="2523744"/>
            <a:ext cx="338328" cy="338328"/>
          </a:xfrm>
          <a:prstGeom prst="rect">
            <a:avLst/>
          </a:prstGeom>
        </p:spPr>
      </p:pic>
      <p:sp>
        <p:nvSpPr>
          <p:cNvPr id="17" name="Text 13"/>
          <p:cNvSpPr/>
          <p:nvPr/>
        </p:nvSpPr>
        <p:spPr>
          <a:xfrm>
            <a:off x="5570068" y="2377440"/>
            <a:ext cx="2148840" cy="320040"/>
          </a:xfrm>
          <a:prstGeom prst="rect">
            <a:avLst/>
          </a:prstGeom>
          <a:noFill/>
          <a:ln/>
        </p:spPr>
        <p:txBody>
          <a:bodyPr wrap="square" lIns="0" tIns="0" rIns="0" bIns="0" rtlCol="0" anchor="ctr"/>
          <a:lstStyle/>
          <a:p>
            <a:pPr indent="0" marL="0">
              <a:buNone/>
            </a:pPr>
            <a:r>
              <a:rPr lang="en-US" sz="1200" b="1" spc="200" kern="0" dirty="0">
                <a:solidFill>
                  <a:srgbClr val="FFD27D"/>
                </a:solidFill>
                <a:latin typeface="Consolas" pitchFamily="34" charset="0"/>
                <a:ea typeface="Consolas" pitchFamily="34" charset="-122"/>
                <a:cs typeface="Consolas" pitchFamily="34" charset="-120"/>
              </a:rPr>
              <a:t>MAYBE</a:t>
            </a:r>
            <a:endParaRPr lang="en-US" sz="1200" dirty="0"/>
          </a:p>
        </p:txBody>
      </p:sp>
      <p:sp>
        <p:nvSpPr>
          <p:cNvPr id="18" name="Text 14"/>
          <p:cNvSpPr/>
          <p:nvPr/>
        </p:nvSpPr>
        <p:spPr>
          <a:xfrm>
            <a:off x="5570068" y="2670048"/>
            <a:ext cx="2103120" cy="502920"/>
          </a:xfrm>
          <a:prstGeom prst="rect">
            <a:avLst/>
          </a:prstGeom>
          <a:noFill/>
          <a:ln/>
        </p:spPr>
        <p:txBody>
          <a:bodyPr wrap="square" lIns="0" tIns="0" rIns="0" bIns="0" rtlCol="0" anchor="ctr"/>
          <a:lstStyle/>
          <a:p>
            <a:pPr indent="0" marL="0">
              <a:lnSpc>
                <a:spcPts val="1800"/>
              </a:lnSpc>
              <a:buNone/>
            </a:pPr>
            <a:r>
              <a:rPr lang="en-US" sz="1600" b="1" dirty="0">
                <a:solidFill>
                  <a:srgbClr val="DFF1FF"/>
                </a:solidFill>
                <a:latin typeface="Georgia" pitchFamily="34" charset="0"/>
                <a:ea typeface="Georgia" pitchFamily="34" charset="-122"/>
                <a:cs typeface="Georgia" pitchFamily="34" charset="-120"/>
              </a:rPr>
              <a:t>A blurry map of the continents</a:t>
            </a:r>
            <a:endParaRPr lang="en-US" sz="1600" dirty="0"/>
          </a:p>
        </p:txBody>
      </p:sp>
      <p:sp>
        <p:nvSpPr>
          <p:cNvPr id="19" name="Text 15"/>
          <p:cNvSpPr/>
          <p:nvPr/>
        </p:nvSpPr>
        <p:spPr>
          <a:xfrm>
            <a:off x="4655668" y="3520440"/>
            <a:ext cx="2880360" cy="1737360"/>
          </a:xfrm>
          <a:prstGeom prst="rect">
            <a:avLst/>
          </a:prstGeom>
          <a:noFill/>
          <a:ln/>
        </p:spPr>
        <p:txBody>
          <a:bodyPr wrap="square" lIns="0" tIns="0" rIns="0" bIns="0" rtlCol="0" anchor="ctr"/>
          <a:lstStyle/>
          <a:p>
            <a:pPr indent="0" marL="0">
              <a:lnSpc>
                <a:spcPts val="2000"/>
              </a:lnSpc>
              <a:buNone/>
            </a:pPr>
            <a:r>
              <a:rPr lang="en-US" sz="1300" dirty="0">
                <a:solidFill>
                  <a:srgbClr val="C9D6E8"/>
                </a:solidFill>
                <a:latin typeface="Calibri" pitchFamily="34" charset="0"/>
                <a:ea typeface="Calibri" pitchFamily="34" charset="-122"/>
                <a:cs typeface="Calibri" pitchFamily="34" charset="-120"/>
              </a:rPr>
              <a:t>Only with a trick: using a whole star as a giant magnifying lens. Even then you get a fuzzy, cloud-smeared outline of the landmasses, not a clear map.</a:t>
            </a:r>
            <a:endParaRPr lang="en-US" sz="1300" dirty="0"/>
          </a:p>
        </p:txBody>
      </p:sp>
      <p:sp>
        <p:nvSpPr>
          <p:cNvPr id="20" name="Shape 16"/>
          <p:cNvSpPr/>
          <p:nvPr/>
        </p:nvSpPr>
        <p:spPr>
          <a:xfrm>
            <a:off x="4655668" y="5193792"/>
            <a:ext cx="2880360" cy="457200"/>
          </a:xfrm>
          <a:prstGeom prst="rect">
            <a:avLst/>
          </a:prstGeom>
          <a:solidFill>
            <a:srgbClr val="0B1220"/>
          </a:solidFill>
          <a:ln/>
        </p:spPr>
      </p:sp>
      <p:sp>
        <p:nvSpPr>
          <p:cNvPr id="21" name="Text 17"/>
          <p:cNvSpPr/>
          <p:nvPr/>
        </p:nvSpPr>
        <p:spPr>
          <a:xfrm>
            <a:off x="4655668" y="5193792"/>
            <a:ext cx="2880360" cy="457200"/>
          </a:xfrm>
          <a:prstGeom prst="rect">
            <a:avLst/>
          </a:prstGeom>
          <a:noFill/>
          <a:ln/>
        </p:spPr>
        <p:txBody>
          <a:bodyPr wrap="square" lIns="0" tIns="0" rIns="0" bIns="0" rtlCol="0" anchor="ctr"/>
          <a:lstStyle/>
          <a:p>
            <a:pPr algn="ctr" indent="0" marL="0">
              <a:buNone/>
            </a:pPr>
            <a:r>
              <a:rPr lang="en-US" sz="1100" b="1" dirty="0">
                <a:solidFill>
                  <a:srgbClr val="FFD27D"/>
                </a:solidFill>
                <a:latin typeface="Consolas" pitchFamily="34" charset="0"/>
                <a:ea typeface="Consolas" pitchFamily="34" charset="-122"/>
                <a:cs typeface="Consolas" pitchFamily="34" charset="-120"/>
              </a:rPr>
              <a:t>Marginal, needs a natural lens</a:t>
            </a:r>
            <a:endParaRPr lang="en-US" sz="1100" dirty="0"/>
          </a:p>
        </p:txBody>
      </p:sp>
      <p:sp>
        <p:nvSpPr>
          <p:cNvPr id="22" name="Shape 18"/>
          <p:cNvSpPr/>
          <p:nvPr/>
        </p:nvSpPr>
        <p:spPr>
          <a:xfrm>
            <a:off x="8176108" y="1920240"/>
            <a:ext cx="3520440" cy="39319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23" name="Shape 19"/>
          <p:cNvSpPr/>
          <p:nvPr/>
        </p:nvSpPr>
        <p:spPr>
          <a:xfrm>
            <a:off x="8176108" y="1920240"/>
            <a:ext cx="3520440" cy="82296"/>
          </a:xfrm>
          <a:prstGeom prst="rect">
            <a:avLst/>
          </a:prstGeom>
          <a:solidFill>
            <a:srgbClr val="FF8A8A"/>
          </a:solidFill>
          <a:ln/>
        </p:spPr>
      </p:sp>
      <p:sp>
        <p:nvSpPr>
          <p:cNvPr id="24" name="Shape 20"/>
          <p:cNvSpPr/>
          <p:nvPr/>
        </p:nvSpPr>
        <p:spPr>
          <a:xfrm>
            <a:off x="8496148" y="2304288"/>
            <a:ext cx="777240" cy="777240"/>
          </a:xfrm>
          <a:prstGeom prst="ellipse">
            <a:avLst/>
          </a:prstGeom>
          <a:solidFill>
            <a:srgbClr val="0B1220"/>
          </a:solidFill>
          <a:ln w="19050">
            <a:solidFill>
              <a:srgbClr val="FF8A8A"/>
            </a:solidFill>
            <a:prstDash val="solid"/>
          </a:ln>
        </p:spPr>
      </p:sp>
      <p:pic>
        <p:nvPicPr>
          <p:cNvPr id="25" name="Image 2" descr="preencoded.png">    </p:cNvPr>
          <p:cNvPicPr>
            <a:picLocks noChangeAspect="1"/>
          </p:cNvPicPr>
          <p:nvPr/>
        </p:nvPicPr>
        <p:blipFill>
          <a:blip r:embed="rId4"/>
          <a:stretch>
            <a:fillRect/>
          </a:stretch>
        </p:blipFill>
        <p:spPr>
          <a:xfrm>
            <a:off x="8715604" y="2523744"/>
            <a:ext cx="338328" cy="338328"/>
          </a:xfrm>
          <a:prstGeom prst="rect">
            <a:avLst/>
          </a:prstGeom>
        </p:spPr>
      </p:pic>
      <p:sp>
        <p:nvSpPr>
          <p:cNvPr id="26" name="Text 21"/>
          <p:cNvSpPr/>
          <p:nvPr/>
        </p:nvSpPr>
        <p:spPr>
          <a:xfrm>
            <a:off x="9410548" y="2377440"/>
            <a:ext cx="2148840" cy="320040"/>
          </a:xfrm>
          <a:prstGeom prst="rect">
            <a:avLst/>
          </a:prstGeom>
          <a:noFill/>
          <a:ln/>
        </p:spPr>
        <p:txBody>
          <a:bodyPr wrap="square" lIns="0" tIns="0" rIns="0" bIns="0" rtlCol="0" anchor="ctr"/>
          <a:lstStyle/>
          <a:p>
            <a:pPr indent="0" marL="0">
              <a:buNone/>
            </a:pPr>
            <a:r>
              <a:rPr lang="en-US" sz="1200" b="1" spc="200" kern="0" dirty="0">
                <a:solidFill>
                  <a:srgbClr val="FF8A8A"/>
                </a:solidFill>
                <a:latin typeface="Consolas" pitchFamily="34" charset="0"/>
                <a:ea typeface="Consolas" pitchFamily="34" charset="-122"/>
                <a:cs typeface="Consolas" pitchFamily="34" charset="-120"/>
              </a:rPr>
              <a:t>LOST FOREVER</a:t>
            </a:r>
            <a:endParaRPr lang="en-US" sz="1200" dirty="0"/>
          </a:p>
        </p:txBody>
      </p:sp>
      <p:sp>
        <p:nvSpPr>
          <p:cNvPr id="27" name="Text 22"/>
          <p:cNvSpPr/>
          <p:nvPr/>
        </p:nvSpPr>
        <p:spPr>
          <a:xfrm>
            <a:off x="9410548" y="2670048"/>
            <a:ext cx="2103120" cy="502920"/>
          </a:xfrm>
          <a:prstGeom prst="rect">
            <a:avLst/>
          </a:prstGeom>
          <a:noFill/>
          <a:ln/>
        </p:spPr>
        <p:txBody>
          <a:bodyPr wrap="square" lIns="0" tIns="0" rIns="0" bIns="0" rtlCol="0" anchor="ctr"/>
          <a:lstStyle/>
          <a:p>
            <a:pPr indent="0" marL="0">
              <a:lnSpc>
                <a:spcPts val="1800"/>
              </a:lnSpc>
              <a:buNone/>
            </a:pPr>
            <a:r>
              <a:rPr lang="en-US" sz="1600" b="1" dirty="0">
                <a:solidFill>
                  <a:srgbClr val="DFF1FF"/>
                </a:solidFill>
                <a:latin typeface="Georgia" pitchFamily="34" charset="0"/>
                <a:ea typeface="Georgia" pitchFamily="34" charset="-122"/>
                <a:cs typeface="Georgia" pitchFamily="34" charset="-120"/>
              </a:rPr>
              <a:t>Any single person or event</a:t>
            </a:r>
            <a:endParaRPr lang="en-US" sz="1600" dirty="0"/>
          </a:p>
        </p:txBody>
      </p:sp>
      <p:sp>
        <p:nvSpPr>
          <p:cNvPr id="28" name="Text 23"/>
          <p:cNvSpPr/>
          <p:nvPr/>
        </p:nvSpPr>
        <p:spPr>
          <a:xfrm>
            <a:off x="8496148" y="3520440"/>
            <a:ext cx="2880360" cy="1737360"/>
          </a:xfrm>
          <a:prstGeom prst="rect">
            <a:avLst/>
          </a:prstGeom>
          <a:noFill/>
          <a:ln/>
        </p:spPr>
        <p:txBody>
          <a:bodyPr wrap="square" lIns="0" tIns="0" rIns="0" bIns="0" rtlCol="0" anchor="ctr"/>
          <a:lstStyle/>
          <a:p>
            <a:pPr indent="0" marL="0">
              <a:lnSpc>
                <a:spcPts val="2000"/>
              </a:lnSpc>
              <a:buNone/>
            </a:pPr>
            <a:r>
              <a:rPr lang="en-US" sz="1300" dirty="0">
                <a:solidFill>
                  <a:srgbClr val="C9D6E8"/>
                </a:solidFill>
                <a:latin typeface="Calibri" pitchFamily="34" charset="0"/>
                <a:ea typeface="Calibri" pitchFamily="34" charset="-122"/>
                <a:cs typeface="Calibri" pitchFamily="34" charset="-120"/>
              </a:rPr>
              <a:t>A person, a city street, a specific event on one day in 33 AD: gone. Fewer than one photon from such a thing crosses any possible telescope. You cannot rebuild an image from zero light.</a:t>
            </a:r>
            <a:endParaRPr lang="en-US" sz="1300" dirty="0"/>
          </a:p>
        </p:txBody>
      </p:sp>
      <p:sp>
        <p:nvSpPr>
          <p:cNvPr id="29" name="Shape 24"/>
          <p:cNvSpPr/>
          <p:nvPr/>
        </p:nvSpPr>
        <p:spPr>
          <a:xfrm>
            <a:off x="8496148" y="5193792"/>
            <a:ext cx="2880360" cy="457200"/>
          </a:xfrm>
          <a:prstGeom prst="rect">
            <a:avLst/>
          </a:prstGeom>
          <a:solidFill>
            <a:srgbClr val="0B1220"/>
          </a:solidFill>
          <a:ln/>
        </p:spPr>
      </p:sp>
      <p:sp>
        <p:nvSpPr>
          <p:cNvPr id="30" name="Text 25"/>
          <p:cNvSpPr/>
          <p:nvPr/>
        </p:nvSpPr>
        <p:spPr>
          <a:xfrm>
            <a:off x="8496148" y="5193792"/>
            <a:ext cx="2880360" cy="457200"/>
          </a:xfrm>
          <a:prstGeom prst="rect">
            <a:avLst/>
          </a:prstGeom>
          <a:noFill/>
          <a:ln/>
        </p:spPr>
        <p:txBody>
          <a:bodyPr wrap="square" lIns="0" tIns="0" rIns="0" bIns="0" rtlCol="0" anchor="ctr"/>
          <a:lstStyle/>
          <a:p>
            <a:pPr algn="ctr" indent="0" marL="0">
              <a:buNone/>
            </a:pPr>
            <a:r>
              <a:rPr lang="en-US" sz="1100" b="1" dirty="0">
                <a:solidFill>
                  <a:srgbClr val="FF8A8A"/>
                </a:solidFill>
                <a:latin typeface="Consolas" pitchFamily="34" charset="0"/>
                <a:ea typeface="Consolas" pitchFamily="34" charset="-122"/>
                <a:cs typeface="Consolas" pitchFamily="34" charset="-120"/>
              </a:rPr>
              <a:t>Impossible, a law of physics</a:t>
            </a:r>
            <a:endParaRPr lang="en-US" sz="1100" dirty="0"/>
          </a:p>
        </p:txBody>
      </p:sp>
      <p:sp>
        <p:nvSpPr>
          <p:cNvPr id="31" name="Shape 26"/>
          <p:cNvSpPr/>
          <p:nvPr/>
        </p:nvSpPr>
        <p:spPr>
          <a:xfrm>
            <a:off x="640080" y="6419088"/>
            <a:ext cx="10908792" cy="0"/>
          </a:xfrm>
          <a:prstGeom prst="line">
            <a:avLst/>
          </a:prstGeom>
          <a:noFill/>
          <a:ln w="12700">
            <a:solidFill>
              <a:srgbClr val="24314A"/>
            </a:solidFill>
            <a:prstDash val="solid"/>
          </a:ln>
        </p:spPr>
      </p:sp>
      <p:sp>
        <p:nvSpPr>
          <p:cNvPr id="32" name="Text 27"/>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33" name="Text 28"/>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34" name="Text 29"/>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0509"/>
        </a:solidFill>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THE BOTTOM LINE</a:t>
            </a:r>
            <a:endParaRPr lang="en-US" sz="1200" dirty="0"/>
          </a:p>
        </p:txBody>
      </p:sp>
      <p:sp>
        <p:nvSpPr>
          <p:cNvPr id="3" name="Text 1"/>
          <p:cNvSpPr/>
          <p:nvPr/>
        </p:nvSpPr>
        <p:spPr>
          <a:xfrm>
            <a:off x="640080" y="1371600"/>
            <a:ext cx="10881360" cy="1005840"/>
          </a:xfrm>
          <a:prstGeom prst="rect">
            <a:avLst/>
          </a:prstGeom>
          <a:noFill/>
          <a:ln/>
        </p:spPr>
        <p:txBody>
          <a:bodyPr wrap="square" lIns="0" tIns="0" rIns="0" bIns="0" rtlCol="0" anchor="ctr"/>
          <a:lstStyle/>
          <a:p>
            <a:pPr algn="l" indent="0" marL="0">
              <a:lnSpc>
                <a:spcPts val="4000"/>
              </a:lnSpc>
              <a:buNone/>
            </a:pPr>
            <a:r>
              <a:rPr lang="en-US" sz="3200" b="1" dirty="0">
                <a:solidFill>
                  <a:srgbClr val="DFF1FF"/>
                </a:solidFill>
                <a:latin typeface="Georgia" pitchFamily="34" charset="0"/>
                <a:ea typeface="Georgia" pitchFamily="34" charset="-122"/>
                <a:cs typeface="Georgia" pitchFamily="34" charset="-120"/>
              </a:rPr>
              <a:t>Could anyone, anywhere, watch the events of 33 AD?</a:t>
            </a:r>
            <a:endParaRPr lang="en-US" sz="3200" dirty="0"/>
          </a:p>
        </p:txBody>
      </p:sp>
      <p:sp>
        <p:nvSpPr>
          <p:cNvPr id="4" name="Text 2"/>
          <p:cNvSpPr/>
          <p:nvPr/>
        </p:nvSpPr>
        <p:spPr>
          <a:xfrm>
            <a:off x="640080" y="2651760"/>
            <a:ext cx="3657600" cy="1828800"/>
          </a:xfrm>
          <a:prstGeom prst="rect">
            <a:avLst/>
          </a:prstGeom>
          <a:noFill/>
          <a:ln/>
        </p:spPr>
        <p:txBody>
          <a:bodyPr wrap="square" lIns="0" tIns="0" rIns="0" bIns="0" rtlCol="0" anchor="ctr"/>
          <a:lstStyle/>
          <a:p>
            <a:pPr algn="l" indent="0" marL="0">
              <a:buNone/>
            </a:pPr>
            <a:r>
              <a:rPr lang="en-US" sz="15000" b="1" dirty="0">
                <a:solidFill>
                  <a:srgbClr val="FF8A8A"/>
                </a:solidFill>
                <a:latin typeface="Georgia" pitchFamily="34" charset="0"/>
                <a:ea typeface="Georgia" pitchFamily="34" charset="-122"/>
                <a:cs typeface="Georgia" pitchFamily="34" charset="-120"/>
              </a:rPr>
              <a:t>No.</a:t>
            </a:r>
            <a:endParaRPr lang="en-US" sz="15000" dirty="0"/>
          </a:p>
        </p:txBody>
      </p:sp>
      <p:sp>
        <p:nvSpPr>
          <p:cNvPr id="5" name="Text 3"/>
          <p:cNvSpPr/>
          <p:nvPr/>
        </p:nvSpPr>
        <p:spPr>
          <a:xfrm>
            <a:off x="4480560" y="2788920"/>
            <a:ext cx="7040880" cy="1463040"/>
          </a:xfrm>
          <a:prstGeom prst="rect">
            <a:avLst/>
          </a:prstGeom>
          <a:noFill/>
          <a:ln/>
        </p:spPr>
        <p:txBody>
          <a:bodyPr wrap="square" lIns="0" tIns="0" rIns="0" bIns="0" rtlCol="0" anchor="ctr"/>
          <a:lstStyle/>
          <a:p>
            <a:pPr algn="l" indent="0" marL="0">
              <a:lnSpc>
                <a:spcPts val="2700"/>
              </a:lnSpc>
              <a:buNone/>
            </a:pPr>
            <a:r>
              <a:rPr lang="en-US" sz="1700" dirty="0">
                <a:solidFill>
                  <a:srgbClr val="C9D6E8"/>
                </a:solidFill>
                <a:latin typeface="Calibri" pitchFamily="34" charset="0"/>
                <a:ea typeface="Calibri" pitchFamily="34" charset="-122"/>
                <a:cs typeface="Calibri" pitchFamily="34" charset="-120"/>
              </a:rPr>
              <a:t>Not with any telescope that could ever be built. The information about individual people and events is not hidden or too far, it is simply gone: there are fewer than one photon of it left to collect anywhere in the universe.</a:t>
            </a:r>
            <a:endParaRPr lang="en-US" sz="1700" dirty="0"/>
          </a:p>
        </p:txBody>
      </p:sp>
      <p:sp>
        <p:nvSpPr>
          <p:cNvPr id="6" name="Shape 4"/>
          <p:cNvSpPr/>
          <p:nvPr/>
        </p:nvSpPr>
        <p:spPr>
          <a:xfrm>
            <a:off x="4480560" y="4434840"/>
            <a:ext cx="7040880" cy="1371600"/>
          </a:xfrm>
          <a:prstGeom prst="rect">
            <a:avLst/>
          </a:prstGeom>
          <a:solidFill>
            <a:srgbClr val="111A2E"/>
          </a:solidFill>
          <a:ln w="12700">
            <a:solidFill>
              <a:srgbClr val="24314A"/>
            </a:solidFill>
            <a:prstDash val="solid"/>
          </a:ln>
        </p:spPr>
      </p:sp>
      <p:sp>
        <p:nvSpPr>
          <p:cNvPr id="7" name="Shape 5"/>
          <p:cNvSpPr/>
          <p:nvPr/>
        </p:nvSpPr>
        <p:spPr>
          <a:xfrm>
            <a:off x="4480560" y="4434840"/>
            <a:ext cx="73152" cy="1371600"/>
          </a:xfrm>
          <a:prstGeom prst="rect">
            <a:avLst/>
          </a:prstGeom>
          <a:solidFill>
            <a:srgbClr val="6FE0A6"/>
          </a:solidFill>
          <a:ln/>
        </p:spPr>
      </p:sp>
      <p:pic>
        <p:nvPicPr>
          <p:cNvPr id="8" name="Image 0" descr="preencoded.png">    </p:cNvPr>
          <p:cNvPicPr>
            <a:picLocks noChangeAspect="1"/>
          </p:cNvPicPr>
          <p:nvPr/>
        </p:nvPicPr>
        <p:blipFill>
          <a:blip r:embed="rId1"/>
          <a:stretch>
            <a:fillRect/>
          </a:stretch>
        </p:blipFill>
        <p:spPr>
          <a:xfrm>
            <a:off x="4754880" y="4800600"/>
            <a:ext cx="548640" cy="548640"/>
          </a:xfrm>
          <a:prstGeom prst="rect">
            <a:avLst/>
          </a:prstGeom>
        </p:spPr>
      </p:pic>
      <p:sp>
        <p:nvSpPr>
          <p:cNvPr id="9" name="Text 6"/>
          <p:cNvSpPr/>
          <p:nvPr/>
        </p:nvSpPr>
        <p:spPr>
          <a:xfrm>
            <a:off x="5532120" y="4434840"/>
            <a:ext cx="5806440" cy="1371600"/>
          </a:xfrm>
          <a:prstGeom prst="rect">
            <a:avLst/>
          </a:prstGeom>
          <a:noFill/>
          <a:ln/>
        </p:spPr>
        <p:txBody>
          <a:bodyPr wrap="square" lIns="0" tIns="0" rIns="0" bIns="0" rtlCol="0" anchor="ctr"/>
          <a:lstStyle/>
          <a:p>
            <a:pPr indent="0" marL="0">
              <a:lnSpc>
                <a:spcPts val="2100"/>
              </a:lnSpc>
              <a:buNone/>
            </a:pPr>
            <a:r>
              <a:rPr lang="en-US" sz="1500" b="1" dirty="0">
                <a:solidFill>
                  <a:srgbClr val="6FE0A6"/>
                </a:solidFill>
                <a:latin typeface="Georgia" pitchFamily="34" charset="0"/>
                <a:ea typeface="Georgia" pitchFamily="34" charset="-122"/>
                <a:cs typeface="Georgia" pitchFamily="34" charset="-120"/>
              </a:rPr>
              <a:t>What does survive: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that Earth existed, was covered in water, was alive, spun once a day and orbited once a year. The planet's biography lasts. Its headlines do not.</a:t>
            </a:r>
            <a:endParaRPr lang="en-US" sz="1500" dirty="0"/>
          </a:p>
        </p:txBody>
      </p:sp>
      <p:sp>
        <p:nvSpPr>
          <p:cNvPr id="10" name="Shape 7"/>
          <p:cNvSpPr/>
          <p:nvPr/>
        </p:nvSpPr>
        <p:spPr>
          <a:xfrm>
            <a:off x="640080" y="6419088"/>
            <a:ext cx="10908792" cy="0"/>
          </a:xfrm>
          <a:prstGeom prst="line">
            <a:avLst/>
          </a:prstGeom>
          <a:noFill/>
          <a:ln w="12700">
            <a:solidFill>
              <a:srgbClr val="24314A"/>
            </a:solidFill>
            <a:prstDash val="solid"/>
          </a:ln>
        </p:spPr>
      </p:sp>
      <p:sp>
        <p:nvSpPr>
          <p:cNvPr id="11" name="Text 8"/>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12" name="Text 9"/>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13" name="Text 10"/>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ONE LAST IDEA</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Diluted, but never destroyed</a:t>
            </a:r>
            <a:endParaRPr lang="en-US" sz="3400" dirty="0"/>
          </a:p>
        </p:txBody>
      </p:sp>
      <p:sp>
        <p:nvSpPr>
          <p:cNvPr id="4" name="Shape 2"/>
          <p:cNvSpPr/>
          <p:nvPr/>
        </p:nvSpPr>
        <p:spPr>
          <a:xfrm>
            <a:off x="640080" y="1965960"/>
            <a:ext cx="5257800" cy="27889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640080" y="1965960"/>
            <a:ext cx="5257800" cy="82296"/>
          </a:xfrm>
          <a:prstGeom prst="rect">
            <a:avLst/>
          </a:prstGeom>
          <a:solidFill>
            <a:srgbClr val="FFD27D"/>
          </a:solidFill>
          <a:ln/>
        </p:spPr>
      </p:sp>
      <p:pic>
        <p:nvPicPr>
          <p:cNvPr id="6" name="Image 0" descr="preencoded.png">    </p:cNvPr>
          <p:cNvPicPr>
            <a:picLocks noChangeAspect="1"/>
          </p:cNvPicPr>
          <p:nvPr/>
        </p:nvPicPr>
        <p:blipFill>
          <a:blip r:embed="rId2"/>
          <a:stretch>
            <a:fillRect/>
          </a:stretch>
        </p:blipFill>
        <p:spPr>
          <a:xfrm>
            <a:off x="960120" y="2286000"/>
            <a:ext cx="502920" cy="502920"/>
          </a:xfrm>
          <a:prstGeom prst="rect">
            <a:avLst/>
          </a:prstGeom>
        </p:spPr>
      </p:pic>
      <p:sp>
        <p:nvSpPr>
          <p:cNvPr id="7" name="Text 4"/>
          <p:cNvSpPr/>
          <p:nvPr/>
        </p:nvSpPr>
        <p:spPr>
          <a:xfrm>
            <a:off x="1600200" y="2313432"/>
            <a:ext cx="3474720" cy="457200"/>
          </a:xfrm>
          <a:prstGeom prst="rect">
            <a:avLst/>
          </a:prstGeom>
          <a:noFill/>
          <a:ln/>
        </p:spPr>
        <p:txBody>
          <a:bodyPr wrap="square" lIns="0" tIns="0" rIns="0" bIns="0" rtlCol="0" anchor="ctr"/>
          <a:lstStyle/>
          <a:p>
            <a:pPr indent="0" marL="0">
              <a:buNone/>
            </a:pPr>
            <a:r>
              <a:rPr lang="en-US" sz="1300" b="1" spc="100" kern="0" dirty="0">
                <a:solidFill>
                  <a:srgbClr val="FFD27D"/>
                </a:solidFill>
                <a:latin typeface="Consolas" pitchFamily="34" charset="0"/>
                <a:ea typeface="Consolas" pitchFamily="34" charset="-122"/>
                <a:cs typeface="Consolas" pitchFamily="34" charset="-120"/>
              </a:rPr>
              <a:t>DILUTED?  YES</a:t>
            </a:r>
            <a:endParaRPr lang="en-US" sz="1300" dirty="0"/>
          </a:p>
        </p:txBody>
      </p:sp>
      <p:sp>
        <p:nvSpPr>
          <p:cNvPr id="8" name="Text 5"/>
          <p:cNvSpPr/>
          <p:nvPr/>
        </p:nvSpPr>
        <p:spPr>
          <a:xfrm>
            <a:off x="960120" y="3017520"/>
            <a:ext cx="4617720" cy="1554480"/>
          </a:xfrm>
          <a:prstGeom prst="rect">
            <a:avLst/>
          </a:prstGeom>
          <a:noFill/>
          <a:ln/>
        </p:spPr>
        <p:txBody>
          <a:bodyPr wrap="square" lIns="0" tIns="0" rIns="0" bIns="0" rtlCol="0" anchor="ctr"/>
          <a:lstStyle/>
          <a:p>
            <a:pPr indent="0" marL="0">
              <a:lnSpc>
                <a:spcPts val="2300"/>
              </a:lnSpc>
              <a:buNone/>
            </a:pPr>
            <a:r>
              <a:rPr lang="en-US" sz="1450" dirty="0">
                <a:solidFill>
                  <a:srgbClr val="C9D6E8"/>
                </a:solidFill>
                <a:latin typeface="Calibri" pitchFamily="34" charset="0"/>
                <a:ea typeface="Calibri" pitchFamily="34" charset="-122"/>
                <a:cs typeface="Calibri" pitchFamily="34" charset="-120"/>
              </a:rPr>
              <a:t>Spread across a bubble almost 2,000 light-years wide, the picture is faint beyond practical use, and dust scrambles part of it into a diffuse glow. As a usable photograph, it is effectively lost.</a:t>
            </a:r>
            <a:endParaRPr lang="en-US" sz="1450" dirty="0"/>
          </a:p>
        </p:txBody>
      </p:sp>
      <p:sp>
        <p:nvSpPr>
          <p:cNvPr id="9" name="Shape 6"/>
          <p:cNvSpPr/>
          <p:nvPr/>
        </p:nvSpPr>
        <p:spPr>
          <a:xfrm>
            <a:off x="6263640" y="1965960"/>
            <a:ext cx="5257800" cy="2788920"/>
          </a:xfrm>
          <a:prstGeom prst="rect">
            <a:avLst/>
          </a:prstGeom>
          <a:solidFill>
            <a:srgbClr val="111A2E"/>
          </a:solidFill>
          <a:ln w="12700">
            <a:solidFill>
              <a:srgbClr val="24314A"/>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263640" y="1965960"/>
            <a:ext cx="5257800" cy="82296"/>
          </a:xfrm>
          <a:prstGeom prst="rect">
            <a:avLst/>
          </a:prstGeom>
          <a:solidFill>
            <a:srgbClr val="6FE0A6"/>
          </a:solidFill>
          <a:ln/>
        </p:spPr>
      </p:sp>
      <p:pic>
        <p:nvPicPr>
          <p:cNvPr id="11" name="Image 1" descr="preencoded.png">    </p:cNvPr>
          <p:cNvPicPr>
            <a:picLocks noChangeAspect="1"/>
          </p:cNvPicPr>
          <p:nvPr/>
        </p:nvPicPr>
        <p:blipFill>
          <a:blip r:embed="rId3"/>
          <a:stretch>
            <a:fillRect/>
          </a:stretch>
        </p:blipFill>
        <p:spPr>
          <a:xfrm>
            <a:off x="6583680" y="2286000"/>
            <a:ext cx="502920" cy="502920"/>
          </a:xfrm>
          <a:prstGeom prst="rect">
            <a:avLst/>
          </a:prstGeom>
        </p:spPr>
      </p:pic>
      <p:sp>
        <p:nvSpPr>
          <p:cNvPr id="12" name="Text 8"/>
          <p:cNvSpPr/>
          <p:nvPr/>
        </p:nvSpPr>
        <p:spPr>
          <a:xfrm>
            <a:off x="7223760" y="2313432"/>
            <a:ext cx="3474720" cy="457200"/>
          </a:xfrm>
          <a:prstGeom prst="rect">
            <a:avLst/>
          </a:prstGeom>
          <a:noFill/>
          <a:ln/>
        </p:spPr>
        <p:txBody>
          <a:bodyPr wrap="square" lIns="0" tIns="0" rIns="0" bIns="0" rtlCol="0" anchor="ctr"/>
          <a:lstStyle/>
          <a:p>
            <a:pPr indent="0" marL="0">
              <a:buNone/>
            </a:pPr>
            <a:r>
              <a:rPr lang="en-US" sz="1300" b="1" spc="100" kern="0" dirty="0">
                <a:solidFill>
                  <a:srgbClr val="6FE0A6"/>
                </a:solidFill>
                <a:latin typeface="Consolas" pitchFamily="34" charset="0"/>
                <a:ea typeface="Consolas" pitchFamily="34" charset="-122"/>
                <a:cs typeface="Consolas" pitchFamily="34" charset="-120"/>
              </a:rPr>
              <a:t>DESTROYED?  NO</a:t>
            </a:r>
            <a:endParaRPr lang="en-US" sz="1300" dirty="0"/>
          </a:p>
        </p:txBody>
      </p:sp>
      <p:sp>
        <p:nvSpPr>
          <p:cNvPr id="13" name="Text 9"/>
          <p:cNvSpPr/>
          <p:nvPr/>
        </p:nvSpPr>
        <p:spPr>
          <a:xfrm>
            <a:off x="6583680" y="3017520"/>
            <a:ext cx="4617720" cy="1554480"/>
          </a:xfrm>
          <a:prstGeom prst="rect">
            <a:avLst/>
          </a:prstGeom>
          <a:noFill/>
          <a:ln/>
        </p:spPr>
        <p:txBody>
          <a:bodyPr wrap="square" lIns="0" tIns="0" rIns="0" bIns="0" rtlCol="0" anchor="ctr"/>
          <a:lstStyle/>
          <a:p>
            <a:pPr indent="0" marL="0">
              <a:lnSpc>
                <a:spcPts val="2300"/>
              </a:lnSpc>
              <a:buNone/>
            </a:pPr>
            <a:r>
              <a:rPr lang="en-US" sz="1450" dirty="0">
                <a:solidFill>
                  <a:srgbClr val="C9D6E8"/>
                </a:solidFill>
                <a:latin typeface="Calibri" pitchFamily="34" charset="0"/>
                <a:ea typeface="Calibri" pitchFamily="34" charset="-122"/>
                <a:cs typeface="Calibri" pitchFamily="34" charset="-120"/>
              </a:rPr>
              <a:t>Physics says information is never truly erased. The photons still exist, just scattered and mixed. Half the bubble is heading out of the galaxy and will sail through empty space for billions of years.</a:t>
            </a:r>
            <a:endParaRPr lang="en-US" sz="1450" dirty="0"/>
          </a:p>
        </p:txBody>
      </p:sp>
      <p:sp>
        <p:nvSpPr>
          <p:cNvPr id="14" name="Shape 10"/>
          <p:cNvSpPr/>
          <p:nvPr/>
        </p:nvSpPr>
        <p:spPr>
          <a:xfrm>
            <a:off x="640080" y="5074920"/>
            <a:ext cx="10908792" cy="1051560"/>
          </a:xfrm>
          <a:prstGeom prst="rect">
            <a:avLst/>
          </a:prstGeom>
          <a:solidFill>
            <a:srgbClr val="0B1220"/>
          </a:solidFill>
          <a:ln w="12700">
            <a:solidFill>
              <a:srgbClr val="FFD27D"/>
            </a:solidFill>
            <a:prstDash val="solid"/>
          </a:ln>
        </p:spPr>
      </p:sp>
      <p:sp>
        <p:nvSpPr>
          <p:cNvPr id="15" name="Text 11"/>
          <p:cNvSpPr/>
          <p:nvPr/>
        </p:nvSpPr>
        <p:spPr>
          <a:xfrm>
            <a:off x="822960" y="5074920"/>
            <a:ext cx="10515600" cy="1051560"/>
          </a:xfrm>
          <a:prstGeom prst="rect">
            <a:avLst/>
          </a:prstGeom>
          <a:noFill/>
          <a:ln/>
        </p:spPr>
        <p:txBody>
          <a:bodyPr wrap="square" lIns="0" tIns="0" rIns="0" bIns="0" rtlCol="0" anchor="ctr"/>
          <a:lstStyle/>
          <a:p>
            <a:pPr algn="ctr" indent="0" marL="0">
              <a:buNone/>
            </a:pPr>
            <a:r>
              <a:rPr lang="en-US" sz="2100" b="1" i="1" dirty="0">
                <a:solidFill>
                  <a:srgbClr val="FFD27D"/>
                </a:solidFill>
                <a:latin typeface="Georgia" pitchFamily="34" charset="0"/>
                <a:ea typeface="Georgia" pitchFamily="34" charset="-122"/>
                <a:cs typeface="Georgia" pitchFamily="34" charset="-120"/>
              </a:rPr>
              <a:t>A faint, unreadable record of Earth in 33 AD will outlast the Earth itself.</a:t>
            </a:r>
            <a:endParaRPr lang="en-US" sz="2100" dirty="0"/>
          </a:p>
        </p:txBody>
      </p:sp>
      <p:sp>
        <p:nvSpPr>
          <p:cNvPr id="16" name="Shape 12"/>
          <p:cNvSpPr/>
          <p:nvPr/>
        </p:nvSpPr>
        <p:spPr>
          <a:xfrm>
            <a:off x="640080" y="6419088"/>
            <a:ext cx="10908792" cy="0"/>
          </a:xfrm>
          <a:prstGeom prst="line">
            <a:avLst/>
          </a:prstGeom>
          <a:noFill/>
          <a:ln w="12700">
            <a:solidFill>
              <a:srgbClr val="24314A"/>
            </a:solidFill>
            <a:prstDash val="solid"/>
          </a:ln>
        </p:spPr>
      </p:sp>
      <p:sp>
        <p:nvSpPr>
          <p:cNvPr id="17" name="Text 13"/>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18" name="Text 14"/>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19" name="Text 15"/>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0509"/>
        </a:solidFill>
      </p:bgPr>
    </p:bg>
    <p:spTree>
      <p:nvGrpSpPr>
        <p:cNvPr id="1" name=""/>
        <p:cNvGrpSpPr/>
        <p:nvPr/>
      </p:nvGrpSpPr>
      <p:grpSpPr>
        <a:xfrm>
          <a:off x="0" y="0"/>
          <a:ext cx="0" cy="0"/>
          <a:chOff x="0" y="0"/>
          <a:chExt cx="0" cy="0"/>
        </a:xfrm>
      </p:grpSpPr>
      <p:sp>
        <p:nvSpPr>
          <p:cNvPr id="2" name="Text 0"/>
          <p:cNvSpPr/>
          <p:nvPr/>
        </p:nvSpPr>
        <p:spPr>
          <a:xfrm>
            <a:off x="640080" y="457200"/>
            <a:ext cx="10972800" cy="320040"/>
          </a:xfrm>
          <a:prstGeom prst="rect">
            <a:avLst/>
          </a:prstGeom>
          <a:noFill/>
          <a:ln/>
        </p:spPr>
        <p:txBody>
          <a:bodyPr wrap="square" lIns="0" tIns="0" rIns="0" bIns="0" rtlCol="0" anchor="ctr"/>
          <a:lstStyle/>
          <a:p>
            <a:pPr algn="l" indent="0" marL="0">
              <a:buNone/>
            </a:pPr>
            <a:r>
              <a:rPr lang="en-US" sz="1200" b="1" spc="300" kern="0" dirty="0">
                <a:solidFill>
                  <a:srgbClr val="FFD27D"/>
                </a:solidFill>
                <a:latin typeface="Consolas" pitchFamily="34" charset="0"/>
                <a:ea typeface="Consolas" pitchFamily="34" charset="-122"/>
                <a:cs typeface="Consolas" pitchFamily="34" charset="-120"/>
              </a:rPr>
              <a:t>IN ONE BREATH</a:t>
            </a:r>
            <a:endParaRPr lang="en-US" sz="1200" dirty="0"/>
          </a:p>
        </p:txBody>
      </p:sp>
      <p:sp>
        <p:nvSpPr>
          <p:cNvPr id="3" name="Text 1"/>
          <p:cNvSpPr/>
          <p:nvPr/>
        </p:nvSpPr>
        <p:spPr>
          <a:xfrm>
            <a:off x="640080" y="777240"/>
            <a:ext cx="10972800" cy="914400"/>
          </a:xfrm>
          <a:prstGeom prst="rect">
            <a:avLst/>
          </a:prstGeom>
          <a:noFill/>
          <a:ln/>
        </p:spPr>
        <p:txBody>
          <a:bodyPr wrap="square" lIns="0" tIns="0" rIns="0" bIns="0" rtlCol="0" anchor="t"/>
          <a:lstStyle/>
          <a:p>
            <a:pPr algn="l" indent="0" marL="0">
              <a:lnSpc>
                <a:spcPts val="3800"/>
              </a:lnSpc>
              <a:buNone/>
            </a:pPr>
            <a:r>
              <a:rPr lang="en-US" sz="3400" b="1" dirty="0">
                <a:solidFill>
                  <a:srgbClr val="DFF1FF"/>
                </a:solidFill>
                <a:latin typeface="Georgia" pitchFamily="34" charset="0"/>
                <a:ea typeface="Georgia" pitchFamily="34" charset="-122"/>
                <a:cs typeface="Georgia" pitchFamily="34" charset="-120"/>
              </a:rPr>
              <a:t>Five things to remember</a:t>
            </a:r>
            <a:endParaRPr lang="en-US" sz="3400" dirty="0"/>
          </a:p>
        </p:txBody>
      </p:sp>
      <p:sp>
        <p:nvSpPr>
          <p:cNvPr id="4" name="Shape 2"/>
          <p:cNvSpPr/>
          <p:nvPr/>
        </p:nvSpPr>
        <p:spPr>
          <a:xfrm>
            <a:off x="640080" y="1828800"/>
            <a:ext cx="548640" cy="548640"/>
          </a:xfrm>
          <a:prstGeom prst="ellipse">
            <a:avLst/>
          </a:prstGeom>
          <a:solidFill>
            <a:srgbClr val="111A2E"/>
          </a:solidFill>
          <a:ln w="19050">
            <a:solidFill>
              <a:srgbClr val="FFD27D"/>
            </a:solidFill>
            <a:prstDash val="solid"/>
          </a:ln>
        </p:spPr>
      </p:sp>
      <p:sp>
        <p:nvSpPr>
          <p:cNvPr id="5" name="Text 3"/>
          <p:cNvSpPr/>
          <p:nvPr/>
        </p:nvSpPr>
        <p:spPr>
          <a:xfrm>
            <a:off x="640080" y="1828800"/>
            <a:ext cx="548640" cy="548640"/>
          </a:xfrm>
          <a:prstGeom prst="rect">
            <a:avLst/>
          </a:prstGeom>
          <a:noFill/>
          <a:ln/>
        </p:spPr>
        <p:txBody>
          <a:bodyPr wrap="square" lIns="0" tIns="0" rIns="0" bIns="0" rtlCol="0" anchor="ctr"/>
          <a:lstStyle/>
          <a:p>
            <a:pPr algn="ctr" indent="0" marL="0">
              <a:buNone/>
            </a:pPr>
            <a:r>
              <a:rPr lang="en-US" sz="2200" b="1" dirty="0">
                <a:solidFill>
                  <a:srgbClr val="FFD27D"/>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417320" y="1783080"/>
            <a:ext cx="9921240" cy="640080"/>
          </a:xfrm>
          <a:prstGeom prst="rect">
            <a:avLst/>
          </a:prstGeom>
          <a:noFill/>
          <a:ln/>
        </p:spPr>
        <p:txBody>
          <a:bodyPr wrap="square" lIns="0" tIns="0" rIns="0" bIns="0" rtlCol="0" anchor="ctr"/>
          <a:lstStyle/>
          <a:p>
            <a:pPr indent="0" marL="0">
              <a:lnSpc>
                <a:spcPts val="2100"/>
              </a:lnSpc>
              <a:buNone/>
            </a:pPr>
            <a:r>
              <a:rPr lang="en-US" sz="1700" b="1" dirty="0">
                <a:solidFill>
                  <a:srgbClr val="DFF1FF"/>
                </a:solidFill>
                <a:latin typeface="Georgia" pitchFamily="34" charset="0"/>
                <a:ea typeface="Georgia" pitchFamily="34" charset="-122"/>
                <a:cs typeface="Georgia" pitchFamily="34" charset="-120"/>
              </a:rPr>
              <a:t>Earth is always broadcasting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Reflected sunlight carries a live image of our planet outward at light-speed, every single day.</a:t>
            </a:r>
            <a:endParaRPr lang="en-US" sz="1700" dirty="0"/>
          </a:p>
        </p:txBody>
      </p:sp>
      <p:sp>
        <p:nvSpPr>
          <p:cNvPr id="7" name="Shape 5"/>
          <p:cNvSpPr/>
          <p:nvPr/>
        </p:nvSpPr>
        <p:spPr>
          <a:xfrm>
            <a:off x="1417320" y="2578608"/>
            <a:ext cx="10131552" cy="0"/>
          </a:xfrm>
          <a:prstGeom prst="line">
            <a:avLst/>
          </a:prstGeom>
          <a:noFill/>
          <a:ln w="12700">
            <a:solidFill>
              <a:srgbClr val="24314A"/>
            </a:solidFill>
            <a:prstDash val="solid"/>
          </a:ln>
        </p:spPr>
      </p:sp>
      <p:sp>
        <p:nvSpPr>
          <p:cNvPr id="8" name="Shape 6"/>
          <p:cNvSpPr/>
          <p:nvPr/>
        </p:nvSpPr>
        <p:spPr>
          <a:xfrm>
            <a:off x="640080" y="2706624"/>
            <a:ext cx="548640" cy="548640"/>
          </a:xfrm>
          <a:prstGeom prst="ellipse">
            <a:avLst/>
          </a:prstGeom>
          <a:solidFill>
            <a:srgbClr val="111A2E"/>
          </a:solidFill>
          <a:ln w="19050">
            <a:solidFill>
              <a:srgbClr val="FFD27D"/>
            </a:solidFill>
            <a:prstDash val="solid"/>
          </a:ln>
        </p:spPr>
      </p:sp>
      <p:sp>
        <p:nvSpPr>
          <p:cNvPr id="9" name="Text 7"/>
          <p:cNvSpPr/>
          <p:nvPr/>
        </p:nvSpPr>
        <p:spPr>
          <a:xfrm>
            <a:off x="640080" y="2706624"/>
            <a:ext cx="548640" cy="548640"/>
          </a:xfrm>
          <a:prstGeom prst="rect">
            <a:avLst/>
          </a:prstGeom>
          <a:noFill/>
          <a:ln/>
        </p:spPr>
        <p:txBody>
          <a:bodyPr wrap="square" lIns="0" tIns="0" rIns="0" bIns="0" rtlCol="0" anchor="ctr"/>
          <a:lstStyle/>
          <a:p>
            <a:pPr algn="ctr" indent="0" marL="0">
              <a:buNone/>
            </a:pPr>
            <a:r>
              <a:rPr lang="en-US" sz="2200" b="1" dirty="0">
                <a:solidFill>
                  <a:srgbClr val="FFD27D"/>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1417320" y="2660904"/>
            <a:ext cx="9921240" cy="640080"/>
          </a:xfrm>
          <a:prstGeom prst="rect">
            <a:avLst/>
          </a:prstGeom>
          <a:noFill/>
          <a:ln/>
        </p:spPr>
        <p:txBody>
          <a:bodyPr wrap="square" lIns="0" tIns="0" rIns="0" bIns="0" rtlCol="0" anchor="ctr"/>
          <a:lstStyle/>
          <a:p>
            <a:pPr indent="0" marL="0">
              <a:lnSpc>
                <a:spcPts val="2100"/>
              </a:lnSpc>
              <a:buNone/>
            </a:pPr>
            <a:r>
              <a:rPr lang="en-US" sz="1700" b="1" dirty="0">
                <a:solidFill>
                  <a:srgbClr val="DFF1FF"/>
                </a:solidFill>
                <a:latin typeface="Georgia" pitchFamily="34" charset="0"/>
                <a:ea typeface="Georgia" pitchFamily="34" charset="-122"/>
                <a:cs typeface="Georgia" pitchFamily="34" charset="-120"/>
              </a:rPr>
              <a:t>The 33 AD snapshot is 1,993 light-years out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A hollow bubble of light nearly 2,000 light-years across, with roughly 60 million stars now inside it.</a:t>
            </a:r>
            <a:endParaRPr lang="en-US" sz="1700" dirty="0"/>
          </a:p>
        </p:txBody>
      </p:sp>
      <p:sp>
        <p:nvSpPr>
          <p:cNvPr id="11" name="Shape 9"/>
          <p:cNvSpPr/>
          <p:nvPr/>
        </p:nvSpPr>
        <p:spPr>
          <a:xfrm>
            <a:off x="1417320" y="3456432"/>
            <a:ext cx="10131552" cy="0"/>
          </a:xfrm>
          <a:prstGeom prst="line">
            <a:avLst/>
          </a:prstGeom>
          <a:noFill/>
          <a:ln w="12700">
            <a:solidFill>
              <a:srgbClr val="24314A"/>
            </a:solidFill>
            <a:prstDash val="solid"/>
          </a:ln>
        </p:spPr>
      </p:sp>
      <p:sp>
        <p:nvSpPr>
          <p:cNvPr id="12" name="Shape 10"/>
          <p:cNvSpPr/>
          <p:nvPr/>
        </p:nvSpPr>
        <p:spPr>
          <a:xfrm>
            <a:off x="640080" y="3584448"/>
            <a:ext cx="548640" cy="548640"/>
          </a:xfrm>
          <a:prstGeom prst="ellipse">
            <a:avLst/>
          </a:prstGeom>
          <a:solidFill>
            <a:srgbClr val="111A2E"/>
          </a:solidFill>
          <a:ln w="19050">
            <a:solidFill>
              <a:srgbClr val="FFD27D"/>
            </a:solidFill>
            <a:prstDash val="solid"/>
          </a:ln>
        </p:spPr>
      </p:sp>
      <p:sp>
        <p:nvSpPr>
          <p:cNvPr id="13" name="Text 11"/>
          <p:cNvSpPr/>
          <p:nvPr/>
        </p:nvSpPr>
        <p:spPr>
          <a:xfrm>
            <a:off x="640080" y="3584448"/>
            <a:ext cx="548640" cy="548640"/>
          </a:xfrm>
          <a:prstGeom prst="rect">
            <a:avLst/>
          </a:prstGeom>
          <a:noFill/>
          <a:ln/>
        </p:spPr>
        <p:txBody>
          <a:bodyPr wrap="square" lIns="0" tIns="0" rIns="0" bIns="0" rtlCol="0" anchor="ctr"/>
          <a:lstStyle/>
          <a:p>
            <a:pPr algn="ctr" indent="0" marL="0">
              <a:buNone/>
            </a:pPr>
            <a:r>
              <a:rPr lang="en-US" sz="2200" b="1" dirty="0">
                <a:solidFill>
                  <a:srgbClr val="FFD27D"/>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1417320" y="3538728"/>
            <a:ext cx="9921240" cy="640080"/>
          </a:xfrm>
          <a:prstGeom prst="rect">
            <a:avLst/>
          </a:prstGeom>
          <a:noFill/>
          <a:ln/>
        </p:spPr>
        <p:txBody>
          <a:bodyPr wrap="square" lIns="0" tIns="0" rIns="0" bIns="0" rtlCol="0" anchor="ctr"/>
          <a:lstStyle/>
          <a:p>
            <a:pPr indent="0" marL="0">
              <a:lnSpc>
                <a:spcPts val="2100"/>
              </a:lnSpc>
              <a:buNone/>
            </a:pPr>
            <a:r>
              <a:rPr lang="en-US" sz="1700" b="1" dirty="0">
                <a:solidFill>
                  <a:srgbClr val="DFF1FF"/>
                </a:solidFill>
                <a:latin typeface="Georgia" pitchFamily="34" charset="0"/>
                <a:ea typeface="Georgia" pitchFamily="34" charset="-122"/>
                <a:cs typeface="Georgia" pitchFamily="34" charset="-120"/>
              </a:rPr>
              <a:t>It has already passed famous stars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Alpha Centauri, Sirius, Vega and the Orion Nebula have all been washed over by our ancient light.</a:t>
            </a:r>
            <a:endParaRPr lang="en-US" sz="1700" dirty="0"/>
          </a:p>
        </p:txBody>
      </p:sp>
      <p:sp>
        <p:nvSpPr>
          <p:cNvPr id="15" name="Shape 13"/>
          <p:cNvSpPr/>
          <p:nvPr/>
        </p:nvSpPr>
        <p:spPr>
          <a:xfrm>
            <a:off x="1417320" y="4334256"/>
            <a:ext cx="10131552" cy="0"/>
          </a:xfrm>
          <a:prstGeom prst="line">
            <a:avLst/>
          </a:prstGeom>
          <a:noFill/>
          <a:ln w="12700">
            <a:solidFill>
              <a:srgbClr val="24314A"/>
            </a:solidFill>
            <a:prstDash val="solid"/>
          </a:ln>
        </p:spPr>
      </p:sp>
      <p:sp>
        <p:nvSpPr>
          <p:cNvPr id="16" name="Shape 14"/>
          <p:cNvSpPr/>
          <p:nvPr/>
        </p:nvSpPr>
        <p:spPr>
          <a:xfrm>
            <a:off x="640080" y="4462272"/>
            <a:ext cx="548640" cy="548640"/>
          </a:xfrm>
          <a:prstGeom prst="ellipse">
            <a:avLst/>
          </a:prstGeom>
          <a:solidFill>
            <a:srgbClr val="111A2E"/>
          </a:solidFill>
          <a:ln w="19050">
            <a:solidFill>
              <a:srgbClr val="FFD27D"/>
            </a:solidFill>
            <a:prstDash val="solid"/>
          </a:ln>
        </p:spPr>
      </p:sp>
      <p:sp>
        <p:nvSpPr>
          <p:cNvPr id="17" name="Text 15"/>
          <p:cNvSpPr/>
          <p:nvPr/>
        </p:nvSpPr>
        <p:spPr>
          <a:xfrm>
            <a:off x="640080" y="4462272"/>
            <a:ext cx="548640" cy="548640"/>
          </a:xfrm>
          <a:prstGeom prst="rect">
            <a:avLst/>
          </a:prstGeom>
          <a:noFill/>
          <a:ln/>
        </p:spPr>
        <p:txBody>
          <a:bodyPr wrap="square" lIns="0" tIns="0" rIns="0" bIns="0" rtlCol="0" anchor="ctr"/>
          <a:lstStyle/>
          <a:p>
            <a:pPr algn="ctr" indent="0" marL="0">
              <a:buNone/>
            </a:pPr>
            <a:r>
              <a:rPr lang="en-US" sz="2200" b="1" dirty="0">
                <a:solidFill>
                  <a:srgbClr val="FFD27D"/>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1417320" y="4416552"/>
            <a:ext cx="9921240" cy="640080"/>
          </a:xfrm>
          <a:prstGeom prst="rect">
            <a:avLst/>
          </a:prstGeom>
          <a:noFill/>
          <a:ln/>
        </p:spPr>
        <p:txBody>
          <a:bodyPr wrap="square" lIns="0" tIns="0" rIns="0" bIns="0" rtlCol="0" anchor="ctr"/>
          <a:lstStyle/>
          <a:p>
            <a:pPr indent="0" marL="0">
              <a:lnSpc>
                <a:spcPts val="2100"/>
              </a:lnSpc>
              <a:buNone/>
            </a:pPr>
            <a:r>
              <a:rPr lang="en-US" sz="1700" b="1" dirty="0">
                <a:solidFill>
                  <a:srgbClr val="DFF1FF"/>
                </a:solidFill>
                <a:latin typeface="Georgia" pitchFamily="34" charset="0"/>
                <a:ea typeface="Georgia" pitchFamily="34" charset="-122"/>
                <a:cs typeface="Georgia" pitchFamily="34" charset="-120"/>
              </a:rPr>
              <a:t>The image fades, it does not vanish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Just 2.8 photons per square meter per day reach the edge. Enough to prove life exists, not to see a face.</a:t>
            </a:r>
            <a:endParaRPr lang="en-US" sz="1700" dirty="0"/>
          </a:p>
        </p:txBody>
      </p:sp>
      <p:sp>
        <p:nvSpPr>
          <p:cNvPr id="19" name="Shape 17"/>
          <p:cNvSpPr/>
          <p:nvPr/>
        </p:nvSpPr>
        <p:spPr>
          <a:xfrm>
            <a:off x="1417320" y="5212080"/>
            <a:ext cx="10131552" cy="0"/>
          </a:xfrm>
          <a:prstGeom prst="line">
            <a:avLst/>
          </a:prstGeom>
          <a:noFill/>
          <a:ln w="12700">
            <a:solidFill>
              <a:srgbClr val="24314A"/>
            </a:solidFill>
            <a:prstDash val="solid"/>
          </a:ln>
        </p:spPr>
      </p:sp>
      <p:sp>
        <p:nvSpPr>
          <p:cNvPr id="20" name="Shape 18"/>
          <p:cNvSpPr/>
          <p:nvPr/>
        </p:nvSpPr>
        <p:spPr>
          <a:xfrm>
            <a:off x="640080" y="5340096"/>
            <a:ext cx="548640" cy="548640"/>
          </a:xfrm>
          <a:prstGeom prst="ellipse">
            <a:avLst/>
          </a:prstGeom>
          <a:solidFill>
            <a:srgbClr val="111A2E"/>
          </a:solidFill>
          <a:ln w="19050">
            <a:solidFill>
              <a:srgbClr val="FFD27D"/>
            </a:solidFill>
            <a:prstDash val="solid"/>
          </a:ln>
        </p:spPr>
      </p:sp>
      <p:sp>
        <p:nvSpPr>
          <p:cNvPr id="21" name="Text 19"/>
          <p:cNvSpPr/>
          <p:nvPr/>
        </p:nvSpPr>
        <p:spPr>
          <a:xfrm>
            <a:off x="640080" y="5340096"/>
            <a:ext cx="548640" cy="548640"/>
          </a:xfrm>
          <a:prstGeom prst="rect">
            <a:avLst/>
          </a:prstGeom>
          <a:noFill/>
          <a:ln/>
        </p:spPr>
        <p:txBody>
          <a:bodyPr wrap="square" lIns="0" tIns="0" rIns="0" bIns="0" rtlCol="0" anchor="ctr"/>
          <a:lstStyle/>
          <a:p>
            <a:pPr algn="ctr" indent="0" marL="0">
              <a:buNone/>
            </a:pPr>
            <a:r>
              <a:rPr lang="en-US" sz="2200" b="1" dirty="0">
                <a:solidFill>
                  <a:srgbClr val="FFD27D"/>
                </a:solidFill>
                <a:latin typeface="Georgia" pitchFamily="34" charset="0"/>
                <a:ea typeface="Georgia" pitchFamily="34" charset="-122"/>
                <a:cs typeface="Georgia" pitchFamily="34" charset="-120"/>
              </a:rPr>
              <a:t>5</a:t>
            </a:r>
            <a:endParaRPr lang="en-US" sz="2200" dirty="0"/>
          </a:p>
        </p:txBody>
      </p:sp>
      <p:sp>
        <p:nvSpPr>
          <p:cNvPr id="22" name="Text 20"/>
          <p:cNvSpPr/>
          <p:nvPr/>
        </p:nvSpPr>
        <p:spPr>
          <a:xfrm>
            <a:off x="1417320" y="5294376"/>
            <a:ext cx="9921240" cy="640080"/>
          </a:xfrm>
          <a:prstGeom prst="rect">
            <a:avLst/>
          </a:prstGeom>
          <a:noFill/>
          <a:ln/>
        </p:spPr>
        <p:txBody>
          <a:bodyPr wrap="square" lIns="0" tIns="0" rIns="0" bIns="0" rtlCol="0" anchor="ctr"/>
          <a:lstStyle/>
          <a:p>
            <a:pPr indent="0" marL="0">
              <a:lnSpc>
                <a:spcPts val="2100"/>
              </a:lnSpc>
              <a:buNone/>
            </a:pPr>
            <a:r>
              <a:rPr lang="en-US" sz="1700" b="1" dirty="0">
                <a:solidFill>
                  <a:srgbClr val="DFF1FF"/>
                </a:solidFill>
                <a:latin typeface="Georgia" pitchFamily="34" charset="0"/>
                <a:ea typeface="Georgia" pitchFamily="34" charset="-122"/>
                <a:cs typeface="Georgia" pitchFamily="34" charset="-120"/>
              </a:rPr>
              <a:t>It outlives us   </a:t>
            </a:r>
            <a:pPr indent="0" marL="0">
              <a:lnSpc>
                <a:spcPts val="2100"/>
              </a:lnSpc>
              <a:buNone/>
            </a:pPr>
            <a:r>
              <a:rPr lang="en-US" sz="1400" dirty="0">
                <a:solidFill>
                  <a:srgbClr val="C9D6E8"/>
                </a:solidFill>
                <a:latin typeface="Calibri" pitchFamily="34" charset="0"/>
                <a:ea typeface="Calibri" pitchFamily="34" charset="-122"/>
                <a:cs typeface="Calibri" pitchFamily="34" charset="-120"/>
              </a:rPr>
              <a:t>Individual moments are lost forever, but a diluted record of a living Earth will outlast the planet itself.</a:t>
            </a:r>
            <a:endParaRPr lang="en-US" sz="1700" dirty="0"/>
          </a:p>
        </p:txBody>
      </p:sp>
      <p:sp>
        <p:nvSpPr>
          <p:cNvPr id="23" name="Shape 21"/>
          <p:cNvSpPr/>
          <p:nvPr/>
        </p:nvSpPr>
        <p:spPr>
          <a:xfrm>
            <a:off x="640080" y="6419088"/>
            <a:ext cx="10908792" cy="0"/>
          </a:xfrm>
          <a:prstGeom prst="line">
            <a:avLst/>
          </a:prstGeom>
          <a:noFill/>
          <a:ln w="12700">
            <a:solidFill>
              <a:srgbClr val="24314A"/>
            </a:solidFill>
            <a:prstDash val="solid"/>
          </a:ln>
        </p:spPr>
      </p:sp>
      <p:sp>
        <p:nvSpPr>
          <p:cNvPr id="24" name="Text 22"/>
          <p:cNvSpPr/>
          <p:nvPr/>
        </p:nvSpPr>
        <p:spPr>
          <a:xfrm>
            <a:off x="640080" y="6473952"/>
            <a:ext cx="5486400" cy="274320"/>
          </a:xfrm>
          <a:prstGeom prst="rect">
            <a:avLst/>
          </a:prstGeom>
          <a:noFill/>
          <a:ln/>
        </p:spPr>
        <p:txBody>
          <a:bodyPr wrap="square" lIns="0" tIns="0" rIns="0" bIns="0" rtlCol="0" anchor="ctr"/>
          <a:lstStyle/>
          <a:p>
            <a:pPr algn="l" indent="0" marL="0">
              <a:buNone/>
            </a:pPr>
            <a:r>
              <a:rPr lang="en-US" sz="900" dirty="0">
                <a:solidFill>
                  <a:srgbClr val="7E8CA3"/>
                </a:solidFill>
                <a:latin typeface="Consolas" pitchFamily="34" charset="0"/>
                <a:ea typeface="Consolas" pitchFamily="34" charset="-122"/>
                <a:cs typeface="Consolas" pitchFamily="34" charset="-120"/>
              </a:rPr>
              <a:t>The Light of 33 AD  ·  audited physics analysis</a:t>
            </a:r>
            <a:endParaRPr lang="en-US" sz="900" dirty="0"/>
          </a:p>
        </p:txBody>
      </p:sp>
      <p:sp>
        <p:nvSpPr>
          <p:cNvPr id="25" name="Text 23"/>
          <p:cNvSpPr/>
          <p:nvPr/>
        </p:nvSpPr>
        <p:spPr>
          <a:xfrm>
            <a:off x="3657600" y="6473952"/>
            <a:ext cx="4873752" cy="274320"/>
          </a:xfrm>
          <a:prstGeom prst="rect">
            <a:avLst/>
          </a:prstGeom>
          <a:noFill/>
          <a:ln/>
        </p:spPr>
        <p:txBody>
          <a:bodyPr wrap="square" lIns="0" tIns="0" rIns="0" bIns="0" rtlCol="0" anchor="ctr"/>
          <a:lstStyle/>
          <a:p>
            <a:pPr algn="ctr" indent="0" marL="0">
              <a:buNone/>
            </a:pPr>
            <a:r>
              <a:rPr lang="en-US" sz="900" dirty="0">
                <a:solidFill>
                  <a:srgbClr val="7E8CA3"/>
                </a:solidFill>
                <a:latin typeface="Consolas" pitchFamily="34" charset="0"/>
                <a:ea typeface="Consolas" pitchFamily="34" charset="-122"/>
                <a:cs typeface="Consolas" pitchFamily="34" charset="-120"/>
              </a:rPr>
              <a:t>© Paul J. Clark 2026</a:t>
            </a:r>
            <a:endParaRPr lang="en-US" sz="900" dirty="0"/>
          </a:p>
        </p:txBody>
      </p:sp>
      <p:sp>
        <p:nvSpPr>
          <p:cNvPr id="26" name="Text 24"/>
          <p:cNvSpPr/>
          <p:nvPr/>
        </p:nvSpPr>
        <p:spPr>
          <a:xfrm>
            <a:off x="10972800" y="6473952"/>
            <a:ext cx="576072" cy="274320"/>
          </a:xfrm>
          <a:prstGeom prst="rect">
            <a:avLst/>
          </a:prstGeom>
          <a:noFill/>
          <a:ln/>
        </p:spPr>
        <p:txBody>
          <a:bodyPr wrap="square" lIns="0" tIns="0" rIns="0" bIns="0" rtlCol="0" anchor="ctr"/>
          <a:lstStyle/>
          <a:p>
            <a:pPr algn="r" indent="0" marL="0">
              <a:buNone/>
            </a:pPr>
            <a:r>
              <a:rPr lang="en-US" sz="900" dirty="0">
                <a:solidFill>
                  <a:srgbClr val="7E8CA3"/>
                </a:solidFill>
                <a:latin typeface="Consolas" pitchFamily="34" charset="0"/>
                <a:ea typeface="Consolas" pitchFamily="34" charset="-122"/>
                <a:cs typeface="Consolas" pitchFamily="34" charset="-120"/>
              </a:rPr>
              <a:t>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Light of 33 AD</dc:title>
  <dc:subject>PptxGenJS Presentation</dc:subject>
  <dc:creator>Paul Clark</dc:creator>
  <cp:lastModifiedBy>Paul Clark</cp:lastModifiedBy>
  <cp:revision>1</cp:revision>
  <dcterms:created xsi:type="dcterms:W3CDTF">2026-07-10T02:36:59Z</dcterms:created>
  <dcterms:modified xsi:type="dcterms:W3CDTF">2026-07-10T02:36:59Z</dcterms:modified>
</cp:coreProperties>
</file>